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8" r:id="rId14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scholar.google.com/scholar?q=%22A+Survey+on+Acquisition+Tracking+and+Pointing+Mechanisms+for+Mobile+Free-Space+Optical+Communications%22" TargetMode="External"/><Relationship Id="rId5" Type="http://schemas.openxmlformats.org/officeDocument/2006/relationships/hyperlink" Target="https://scholar.google.com/scholar?q=%22Optical+Communication+in+Space+Challenges+and+Mitigation+Techniques%22" TargetMode="External"/><Relationship Id="rId6" Type="http://schemas.openxmlformats.org/officeDocument/2006/relationships/hyperlink" Target="https://scholar.google.com/scholar?q=%22Design+and+Analysis+of+Modern+Tracking+Systems+Blackman+Popoli%22" TargetMode="External"/><Relationship Id="rId7" Type="http://schemas.openxmlformats.org/officeDocument/2006/relationships/hyperlink" Target="https://scholar.google.com/scholar?q=%22Estimation+with+Applications+to+Tracking+and+Navigation+Bar-Shalom%22" TargetMode="External"/><Relationship Id="rId8" Type="http://schemas.openxmlformats.org/officeDocument/2006/relationships/hyperlink" Target="https://scholar.google.com/scholar?q=%22Closer+Control+of+Loops+with+Dead+Time+Smith%22" TargetMode="External"/><Relationship Id="rId9" Type="http://schemas.openxmlformats.org/officeDocument/2006/relationships/hyperlink" Target="https://scholar.google.com/scholar?q=%22SGP4+Orbit+Determination+Vallado+Crawford%22" TargetMode="External"/><Relationship Id="rId10" Type="http://schemas.openxmlformats.org/officeDocument/2006/relationships/hyperlink" Target="https://scholar.google.com/scholar?q=%22Laser+Beam+Propagation+through+Random+Media+Andrews+Phillips%22" TargetMode="External"/><Relationship Id="rId11" Type="http://schemas.openxmlformats.org/officeDocument/2006/relationships/image" Target="../media/image19.jpg"/><Relationship Id="rId12" Type="http://schemas.openxmlformats.org/officeDocument/2006/relationships/hyperlink" Target="https://github.com/pranshukesavmishra/SIH-2026" TargetMode="External"/><Relationship Id="rId13" Type="http://schemas.openxmlformats.org/officeDocument/2006/relationships/hyperlink" Target="https://zerodrift-fsoc-pat.netlify.app/" TargetMode="External"/><Relationship Id="rId14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32688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Problem Statement ID –</a:t>
            </a:r>
            <a:r>
              <a:rPr sz="1400" b="1" i="0">
                <a:solidFill>
                  <a:srgbClr val="0E7C99"/>
                </a:solidFill>
                <a:latin typeface="Arial"/>
              </a:rPr>
              <a:t>  26169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Problem Statement Title –</a:t>
            </a:r>
            <a:r>
              <a:rPr sz="1400" b="0" i="0">
                <a:solidFill>
                  <a:srgbClr val="0E7C99"/>
                </a:solidFill>
                <a:latin typeface="Arial"/>
              </a:rPr>
              <a:t>  AI-Based Virtual Camera Tracking System for Coarse Alignment of Mobile FSOC Terminals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Theme –</a:t>
            </a:r>
            <a:r>
              <a:rPr sz="1400" b="0" i="0">
                <a:solidFill>
                  <a:srgbClr val="0E7C99"/>
                </a:solidFill>
                <a:latin typeface="Arial"/>
              </a:rPr>
              <a:t>  Smart Automation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PS Category –</a:t>
            </a:r>
            <a:r>
              <a:rPr sz="1400" b="0" i="0">
                <a:solidFill>
                  <a:srgbClr val="0E7C99"/>
                </a:solidFill>
                <a:latin typeface="Arial"/>
              </a:rPr>
              <a:t>  Software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Team ID –</a:t>
            </a:r>
            <a:r>
              <a:rPr sz="1400" b="0" i="0">
                <a:solidFill>
                  <a:srgbClr val="0E7C99"/>
                </a:solidFill>
                <a:latin typeface="Arial"/>
              </a:rPr>
              <a:t>  —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Team Name –</a:t>
            </a:r>
            <a:r>
              <a:rPr sz="1400" b="1" i="0">
                <a:solidFill>
                  <a:srgbClr val="0E7C99"/>
                </a:solidFill>
                <a:latin typeface="Arial"/>
              </a:rPr>
              <a:t>  ZeroDrift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29184" y="5138928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50" b="1" i="0">
                <a:solidFill>
                  <a:srgbClr val="0B2545"/>
                </a:solidFill>
                <a:latin typeface="Arial"/>
              </a:rPr>
              <a:t>The problem in one line:  </a:t>
            </a:r>
            <a:r>
              <a:rPr sz="1150" b="0" i="0">
                <a:solidFill>
                  <a:srgbClr val="0B2545"/>
                </a:solidFill>
                <a:latin typeface="Arial"/>
              </a:rPr>
              <a:t>a mobile laser (FSOC) terminal must find, verify and continuously point at its partner's beacon with hair-thin accuracy — ISRO asks for this coarse-alignment brain, proven entirely in software.</a:t>
            </a:r>
          </a:p>
        </p:txBody>
      </p:sp>
      <p:pic>
        <p:nvPicPr>
          <p:cNvPr id="39" name="Picture 38" descr="c1_is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779008"/>
            <a:ext cx="1511503" cy="868680"/>
          </a:xfrm>
          <a:prstGeom prst="rect">
            <a:avLst/>
          </a:prstGeom>
        </p:spPr>
      </p:pic>
      <p:pic>
        <p:nvPicPr>
          <p:cNvPr id="40" name="Picture 39" descr="logo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5742432"/>
            <a:ext cx="218720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548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sz="900" b="0" i="1">
                <a:solidFill>
                  <a:srgbClr val="5A6472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 i="1">
                <a:solidFill>
                  <a:srgbClr val="5A6472"/>
                </a:solidFill>
                <a:latin typeface="Arial"/>
              </a:rPr>
              <a:t>Detailed explanation of the proposed solution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 i="1">
                <a:solidFill>
                  <a:srgbClr val="5A6472"/>
                </a:solidFill>
                <a:latin typeface="Arial"/>
              </a:rPr>
              <a:t>How it addresses the problem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 i="1">
                <a:solidFill>
                  <a:srgbClr val="5A6472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Team ZeroDrift · SIH 2026 · PS 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74320" y="1773936"/>
            <a:ext cx="6172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9C2E23"/>
                </a:solidFill>
                <a:latin typeface="Arial"/>
              </a:rPr>
              <a:t>Problem in one line: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find the partner's blinking beacon among stars and glints, verify it, and hold it centred to micro-radian accuracy — automatically, in software.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274320" y="2231136"/>
            <a:ext cx="6172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0E7C99"/>
                </a:solidFill>
                <a:latin typeface="Arial"/>
              </a:rPr>
              <a:t>Our answer — the eyes &amp; neck of a laser terminal:  </a:t>
            </a:r>
            <a:r>
              <a:rPr sz="1150" b="0" i="0">
                <a:solidFill>
                  <a:srgbClr val="0B2545"/>
                </a:solidFill>
                <a:latin typeface="Arial"/>
              </a:rPr>
              <a:t>simulate the sky · verify the beacon · track &amp; predict.  Built, measured, live.</a:t>
            </a:r>
          </a:p>
        </p:txBody>
      </p:sp>
      <p:pic>
        <p:nvPicPr>
          <p:cNvPr id="15365" name="Picture 15364" descr="c2_card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688336"/>
            <a:ext cx="5760720" cy="2887437"/>
          </a:xfrm>
          <a:prstGeom prst="rect">
            <a:avLst/>
          </a:prstGeom>
        </p:spPr>
      </p:pic>
      <p:pic>
        <p:nvPicPr>
          <p:cNvPr id="15366" name="Picture 15365" descr="c2_chip1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5632704"/>
            <a:ext cx="1874519" cy="736990"/>
          </a:xfrm>
          <a:prstGeom prst="rect">
            <a:avLst/>
          </a:prstGeom>
        </p:spPr>
      </p:pic>
      <p:pic>
        <p:nvPicPr>
          <p:cNvPr id="15367" name="Picture 15366" descr="c2_chip2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144" y="5632704"/>
            <a:ext cx="1874519" cy="756385"/>
          </a:xfrm>
          <a:prstGeom prst="rect">
            <a:avLst/>
          </a:prstGeom>
        </p:spPr>
      </p:pic>
      <p:pic>
        <p:nvPicPr>
          <p:cNvPr id="15368" name="Picture 15367" descr="c2_chip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5632704"/>
            <a:ext cx="1874519" cy="763079"/>
          </a:xfrm>
          <a:prstGeom prst="rect">
            <a:avLst/>
          </a:prstGeom>
        </p:spPr>
      </p:pic>
      <p:pic>
        <p:nvPicPr>
          <p:cNvPr id="15369" name="Picture 15368" descr="c2_sho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848" y="1847088"/>
            <a:ext cx="4475747" cy="2743200"/>
          </a:xfrm>
          <a:prstGeom prst="rect">
            <a:avLst/>
          </a:prstGeom>
          <a:ln w="9525">
            <a:solidFill>
              <a:srgbClr val="5A6472"/>
            </a:solidFill>
          </a:ln>
        </p:spPr>
      </p:pic>
      <p:sp>
        <p:nvSpPr>
          <p:cNvPr id="15370" name="TextBox 15369"/>
          <p:cNvSpPr txBox="1"/>
          <p:nvPr/>
        </p:nvSpPr>
        <p:spPr>
          <a:xfrm>
            <a:off x="6446520" y="4645152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6472"/>
                </a:solidFill>
                <a:latin typeface="Arial"/>
              </a:rPr>
              <a:t>Our console locked on the beacon — the exact view the live demo link opens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6446520" y="4901184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2545"/>
                </a:solidFill>
                <a:latin typeface="Arial"/>
              </a:rPr>
              <a:t>Measured: </a:t>
            </a:r>
            <a:r>
              <a:rPr sz="1100" b="1" i="0">
                <a:solidFill>
                  <a:srgbClr val="0E7C99"/>
                </a:solidFill>
                <a:latin typeface="Arial"/>
              </a:rPr>
              <a:t>median 198 µrad</a:t>
            </a:r>
            <a:r>
              <a:rPr sz="1100" b="0" i="0">
                <a:solidFill>
                  <a:srgbClr val="0B2545"/>
                </a:solidFill>
                <a:latin typeface="Arial"/>
              </a:rPr>
              <a:t> in lock · in-FOV </a:t>
            </a:r>
            <a:r>
              <a:rPr sz="1100" b="1" i="0">
                <a:solidFill>
                  <a:srgbClr val="1F8A5B"/>
                </a:solidFill>
                <a:latin typeface="Arial"/>
              </a:rPr>
              <a:t>100%</a:t>
            </a:r>
            <a:r>
              <a:rPr sz="1100" b="0" i="0">
                <a:solidFill>
                  <a:srgbClr val="0B2545"/>
                </a:solidFill>
                <a:latin typeface="Arial"/>
              </a:rPr>
              <a:t> · the live-demo run</a:t>
            </a:r>
          </a:p>
        </p:txBody>
      </p:sp>
      <p:pic>
        <p:nvPicPr>
          <p:cNvPr id="15372" name="Picture 15371" descr="chart_converge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5157216"/>
            <a:ext cx="5394960" cy="1186891"/>
          </a:xfrm>
          <a:prstGeom prst="rect">
            <a:avLst/>
          </a:prstGeom>
          <a:ln w="9525">
            <a:solidFill>
              <a:srgbClr val="D5DDE5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23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 i="1">
                <a:solidFill>
                  <a:srgbClr val="5A6472"/>
                </a:solidFill>
                <a:latin typeface="Arial"/>
              </a:rPr>
              <a:t>Technologies to be used (e.g. programming languages, frameworks, hardware)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 i="1">
                <a:solidFill>
                  <a:srgbClr val="5A6472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Team ZeroDrift · SIH 2026 · PS 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c3_a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572768"/>
            <a:ext cx="10003536" cy="4725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23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Strategies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 ZeroDrift · SIH 2026 · PS 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c4_co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481328"/>
            <a:ext cx="10259568" cy="3952457"/>
          </a:xfrm>
          <a:prstGeom prst="rect">
            <a:avLst/>
          </a:prstGeom>
        </p:spPr>
      </p:pic>
      <p:pic>
        <p:nvPicPr>
          <p:cNvPr id="17412" name="Picture 17411" descr="c4_stri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5486400"/>
            <a:ext cx="5943600" cy="850873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320040" y="5541264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64 runs, our LEO scenarios →  </a:t>
            </a:r>
            <a:r>
              <a:rPr sz="1050" b="0" i="0">
                <a:solidFill>
                  <a:srgbClr val="0B2545"/>
                </a:solidFill>
                <a:latin typeface="Arial"/>
              </a:rPr>
              <a:t>never a wrong lock, never a failed acquisition.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189720" y="5541264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Reproducible:  </a:t>
            </a:r>
            <a:r>
              <a:rPr sz="1050" b="0" i="0">
                <a:solidFill>
                  <a:srgbClr val="0B2545"/>
                </a:solidFill>
                <a:latin typeface="Arial"/>
              </a:rPr>
              <a:t>every number regenerates from one command.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23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 ZeroDrift · SIH 2026 · PS 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74320" y="1499616"/>
            <a:ext cx="3886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1F8A5B"/>
                </a:solidFill>
                <a:latin typeface="Arial"/>
              </a:rPr>
              <a:t>ECONOMIC FEASIBILITY</a:t>
            </a:r>
            <a:r>
              <a:rPr sz="1050" b="0" i="0">
                <a:solidFill>
                  <a:srgbClr val="5A6472"/>
                </a:solidFill>
                <a:latin typeface="Arial"/>
              </a:rPr>
              <a:t>  — the arithmetic that removes the cost barrier</a:t>
            </a:r>
          </a:p>
        </p:txBody>
      </p:sp>
      <p:pic>
        <p:nvPicPr>
          <p:cNvPr id="17412" name="Picture 17411" descr="c_econ_capit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883664"/>
            <a:ext cx="3712463" cy="1933869"/>
          </a:xfrm>
          <a:prstGeom prst="rect">
            <a:avLst/>
          </a:prstGeom>
          <a:ln w="9525">
            <a:solidFill>
              <a:srgbClr val="D5DDE5"/>
            </a:solidFill>
          </a:ln>
        </p:spPr>
      </p:pic>
      <p:pic>
        <p:nvPicPr>
          <p:cNvPr id="17413" name="Picture 17412" descr="c_econ_stat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895344"/>
            <a:ext cx="3712463" cy="1188335"/>
          </a:xfrm>
          <a:prstGeom prst="rect">
            <a:avLst/>
          </a:prstGeom>
          <a:ln w="9525">
            <a:solidFill>
              <a:srgbClr val="D5DDE5"/>
            </a:solidFill>
          </a:ln>
        </p:spPr>
      </p:pic>
      <p:pic>
        <p:nvPicPr>
          <p:cNvPr id="17414" name="Picture 17413" descr="c5_card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104" y="1481328"/>
            <a:ext cx="7498079" cy="3622300"/>
          </a:xfrm>
          <a:prstGeom prst="rect">
            <a:avLst/>
          </a:prstGeom>
        </p:spPr>
      </p:pic>
      <p:pic>
        <p:nvPicPr>
          <p:cNvPr id="17415" name="Picture 17414" descr="c5_audienc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5175504"/>
            <a:ext cx="5230368" cy="1147011"/>
          </a:xfrm>
          <a:prstGeom prst="rect">
            <a:avLst/>
          </a:prstGeom>
        </p:spPr>
      </p:pic>
      <p:pic>
        <p:nvPicPr>
          <p:cNvPr id="17416" name="Picture 17415" descr="c5_linkbo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175504"/>
            <a:ext cx="5257800" cy="114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20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 ZeroDrift · SIH 2026 · PS 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84048" y="144475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0B2545"/>
                </a:solidFill>
                <a:latin typeface="Arial"/>
              </a:rPr>
              <a:t>Research foundations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84048" y="1810512"/>
            <a:ext cx="562356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Kaymak et al.,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“A Survey on Acquisition, Tracking and Pointing Mechanisms for Mobile FSO,” IEEE Comm. Surveys &amp; Tutorials, 2018.  </a:t>
            </a:r>
            <a:r>
              <a:rPr sz="950" u="sng">
                <a:solidFill>
                  <a:srgbClr val="0E7C99"/>
                </a:solidFill>
                <a:latin typeface="Arial"/>
                <a:hlinkClick r:id="rId4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Kaushal &amp; Kaddoum,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“Optical Communication in Space: Challenges and Mitigation Techniques,” IEEE CS&amp;T, 2017.  </a:t>
            </a:r>
            <a:r>
              <a:rPr sz="950" u="sng">
                <a:solidFill>
                  <a:srgbClr val="0E7C99"/>
                </a:solidFill>
                <a:latin typeface="Arial"/>
                <a:hlinkClick r:id="rId5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Blackman &amp; Popoli,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Design and Analysis of Modern Tracking Systems — IMM filtering, CFAR detection.  </a:t>
            </a:r>
            <a:r>
              <a:rPr sz="950" u="sng">
                <a:solidFill>
                  <a:srgbClr val="0E7C99"/>
                </a:solidFill>
                <a:latin typeface="Arial"/>
                <a:hlinkClick r:id="rId6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Bar-Shalom et al.,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Estimation with Applications to Tracking and Navigation — Kalman/IMM theory.  </a:t>
            </a:r>
            <a:r>
              <a:rPr sz="950" u="sng">
                <a:solidFill>
                  <a:srgbClr val="0E7C99"/>
                </a:solidFill>
                <a:latin typeface="Arial"/>
                <a:hlinkClick r:id="rId7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Smith, O.J.M.,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“Closer Control of Loops with Dead Time” — the Smith predictor, 1957.  </a:t>
            </a:r>
            <a:r>
              <a:rPr sz="950" u="sng">
                <a:solidFill>
                  <a:srgbClr val="0E7C99"/>
                </a:solidFill>
                <a:latin typeface="Arial"/>
                <a:hlinkClick r:id="rId8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Vallado &amp; Crawford,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“SGP4 Orbit Determination” — AIAA 2008; real ISS TLE propagation.  </a:t>
            </a:r>
            <a:r>
              <a:rPr sz="950" u="sng">
                <a:solidFill>
                  <a:srgbClr val="0E7C99"/>
                </a:solidFill>
                <a:latin typeface="Arial"/>
                <a:hlinkClick r:id="rId9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Andrews &amp; Phillips,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Laser Beam Propagation through Random Media — turbulence &amp; scintillation.  </a:t>
            </a:r>
            <a:r>
              <a:rPr sz="950" u="sng">
                <a:solidFill>
                  <a:srgbClr val="0E7C99"/>
                </a:solidFill>
                <a:latin typeface="Arial"/>
                <a:hlinkClick r:id="rId10"/>
              </a:rPr>
              <a:t>[link]</a:t>
            </a:r>
          </a:p>
        </p:txBody>
      </p:sp>
      <p:pic>
        <p:nvPicPr>
          <p:cNvPr id="17413" name="Picture 17412" descr="c6_logo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" y="5047488"/>
            <a:ext cx="4023360" cy="126536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355080" y="144475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0B2545"/>
                </a:solidFill>
                <a:latin typeface="Arial"/>
              </a:rPr>
              <a:t>Our work — open and verifiable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55080" y="1810512"/>
            <a:ext cx="548640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Repository:  </a:t>
            </a:r>
            <a:r>
              <a:rPr sz="1100" u="sng">
                <a:solidFill>
                  <a:srgbClr val="0E7C99"/>
                </a:solidFill>
                <a:latin typeface="Arial"/>
                <a:hlinkClick r:id="rId12"/>
              </a:rPr>
              <a:t>github.com/pranshukesavmishra/SIH-2026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Live demo (replay console):  </a:t>
            </a:r>
            <a:r>
              <a:rPr sz="1100" u="sng">
                <a:solidFill>
                  <a:srgbClr val="0E7C99"/>
                </a:solidFill>
                <a:latin typeface="Arial"/>
                <a:hlinkClick r:id="rId13"/>
              </a:rPr>
              <a:t>zerodrift-fsoc-pat.netlify.app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Inside:  </a:t>
            </a:r>
            <a:r>
              <a:rPr sz="1050" b="0" i="0">
                <a:solidFill>
                  <a:srgbClr val="0B2545"/>
                </a:solidFill>
                <a:latin typeface="Arial"/>
              </a:rPr>
              <a:t>5,500+ documented lines · 83 automated tests · 6 validated scenarios · Monte-Carlo logs · technical report · user manual · demo video.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Reproducible:  </a:t>
            </a:r>
            <a:r>
              <a:rPr sz="1050" b="0" i="0">
                <a:solidFill>
                  <a:srgbClr val="0B2545"/>
                </a:solidFill>
                <a:latin typeface="Arial"/>
              </a:rPr>
              <a:t>every figure regenerates from one command; every random draw is logged and replayable.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355080" y="3218688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Arial"/>
              </a:rPr>
              <a:t>Compared with existing approaches</a:t>
            </a:r>
          </a:p>
        </p:txBody>
      </p:sp>
      <p:pic>
        <p:nvPicPr>
          <p:cNvPr id="17417" name="Picture 17416" descr="c6_tabl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80" y="3474720"/>
            <a:ext cx="4846320" cy="1696605"/>
          </a:xfrm>
          <a:prstGeom prst="rect">
            <a:avLst/>
          </a:prstGeom>
        </p:spPr>
      </p:pic>
      <p:sp>
        <p:nvSpPr>
          <p:cNvPr id="17418" name="Rounded Rectangle 17417"/>
          <p:cNvSpPr/>
          <p:nvPr/>
        </p:nvSpPr>
        <p:spPr>
          <a:xfrm>
            <a:off x="6355080" y="5248656"/>
            <a:ext cx="5486400" cy="1060704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Why ZeroDrift wins on this problem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7FD4A8"/>
                </a:solidFill>
                <a:latin typeface="Arial"/>
              </a:rPr>
              <a:t>✓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All six mandatory deliverables already exist today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7FD4A8"/>
                </a:solidFill>
                <a:latin typeface="Arial"/>
              </a:rPr>
              <a:t>✓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Judged numbers, honestly measured against hidden ground truth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7FD4A8"/>
                </a:solidFill>
                <a:latin typeface="Arial"/>
              </a:rPr>
              <a:t>✓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AI where it earns its place — benchmarked against classical methods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B2545"/>
                </a:solidFill>
                <a:latin typeface="Arial"/>
              </a:rPr>
              <a:t>Compliance with PS26169 — their table, our values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Team ZeroDrift · SIH 2026 · PS 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c3_a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572768"/>
            <a:ext cx="10003536" cy="4725835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66928" y="1517904"/>
            <a:ext cx="11064240" cy="29718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76656" y="151790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PS26169 PARAMETER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654296" y="151790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SPECIFIED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174736" y="151790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>ZERODRIFT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1420855" y="151790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66928" y="1815084"/>
            <a:ext cx="11064240" cy="29718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76656" y="181508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Camera resolution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654296" y="181508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640 x 480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174736" y="181508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640 x 480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1420855" y="181508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76656" y="211226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Camera FOV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654296" y="211226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4° x 3° default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174736" y="211226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4° x 3°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1420855" y="211226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66928" y="2409444"/>
            <a:ext cx="11064240" cy="29718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676656" y="240944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Camera update rate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654296" y="240944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≥ 30 Hz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174736" y="240944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30 Hz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1420855" y="240944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76656" y="270662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Max pan / tilt speed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654296" y="270662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5-10°/s, default 5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174736" y="270662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5°/s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1420855" y="270662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566928" y="3003804"/>
            <a:ext cx="11064240" cy="29718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676656" y="300380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Target shape / size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654296" y="300380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square, 10 x 10 px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174736" y="300380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square, 10 x 10 px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1420855" y="300380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76656" y="330098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Motion patterns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4654296" y="330098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≥ 4, incl. Figure-of-8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174736" y="330098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7, incl. Figure-of-8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1420855" y="330098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566928" y="3598163"/>
            <a:ext cx="11064240" cy="29718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676656" y="3598163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Image noise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654296" y="3598163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S&amp;P ~10%, Gaussian, Poisson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174736" y="3598163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all three, S&amp;P at 10%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11420855" y="3598163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76656" y="389534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Camera jitter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654296" y="389534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± 20 px / frame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174736" y="389534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19.8 px p99, measured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11420855" y="389534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566928" y="4192524"/>
            <a:ext cx="11064240" cy="29718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676656" y="419252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Platform motion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4654296" y="419252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± 20 px / frame, linear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174736" y="419252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linear drift, 6 px / frame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11420855" y="419252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76656" y="448970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Atmospheric conditions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654296" y="448970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Clear / Haze / Fog / Rain / Low light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8174736" y="448970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all five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11420855" y="448970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566928" y="4786884"/>
            <a:ext cx="11064240" cy="29718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676656" y="478688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MP4 input, bypassing PTZ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4654296" y="478688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required (Benchmark-2)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8174736" y="478688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--video, working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11420855" y="478688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8A5B"/>
                </a:solidFill>
                <a:latin typeface="Arial"/>
              </a:rPr>
              <a:t>✓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566928" y="5084064"/>
            <a:ext cx="11064240" cy="297180"/>
          </a:xfrm>
          <a:prstGeom prst="roundRect">
            <a:avLst>
              <a:gd name="adj" fmla="val 6000"/>
            </a:avLst>
          </a:prstGeom>
          <a:solidFill>
            <a:srgbClr val="FD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676656" y="508406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Tracking error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4654296" y="508406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≤ 10 px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174736" y="508406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9.4 px  (drift nulled)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11420855" y="508406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A6472"/>
                </a:solidFill>
                <a:latin typeface="Arial"/>
              </a:rPr>
              <a:t>~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566928" y="5381244"/>
            <a:ext cx="11064240" cy="297180"/>
          </a:xfrm>
          <a:prstGeom prst="roundRect">
            <a:avLst>
              <a:gd name="adj" fmla="val 6000"/>
            </a:avLst>
          </a:prstGeom>
          <a:solidFill>
            <a:srgbClr val="FD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676656" y="538124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Acquisition time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4654296" y="538124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0B2545"/>
                </a:solidFill>
                <a:latin typeface="Arial"/>
              </a:rPr>
              <a:t>≤ 2 s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8174736" y="538124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0B2545"/>
                </a:solidFill>
                <a:latin typeface="Arial"/>
              </a:rPr>
              <a:t>1.77 s  (drift nulled)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11420855" y="538124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A6472"/>
                </a:solidFill>
                <a:latin typeface="Arial"/>
              </a:rPr>
              <a:t>~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566928" y="5678424"/>
            <a:ext cx="11064240" cy="297180"/>
          </a:xfrm>
          <a:prstGeom prst="roundRect">
            <a:avLst>
              <a:gd name="adj" fmla="val 6000"/>
            </a:avLst>
          </a:prstGeom>
          <a:solidFill>
            <a:srgbClr val="F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78" name="TextBox 17477"/>
          <p:cNvSpPr txBox="1"/>
          <p:nvPr/>
        </p:nvSpPr>
        <p:spPr>
          <a:xfrm>
            <a:off x="676656" y="5678424"/>
            <a:ext cx="3977639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9C2E23"/>
                </a:solidFill>
                <a:latin typeface="Arial"/>
              </a:rPr>
              <a:t>Processing speed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4654296" y="5678424"/>
            <a:ext cx="35204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0" i="0">
                <a:solidFill>
                  <a:srgbClr val="9C2E23"/>
                </a:solidFill>
                <a:latin typeface="Arial"/>
              </a:rPr>
              <a:t>≥ 20 FPS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8174736" y="5678424"/>
            <a:ext cx="324612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50" b="1" i="0">
                <a:solidFill>
                  <a:srgbClr val="9C2E23"/>
                </a:solidFill>
                <a:latin typeface="Arial"/>
              </a:rPr>
              <a:t>9.2 FPS  — open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11420855" y="5678424"/>
            <a:ext cx="320040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C2E23"/>
                </a:solidFill>
                <a:latin typeface="Arial"/>
              </a:rPr>
              <a:t>✗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566928" y="6067044"/>
            <a:ext cx="11064240" cy="694944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713232" y="6085331"/>
            <a:ext cx="107716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 i="0">
                <a:solidFill>
                  <a:srgbClr val="0B2545"/>
                </a:solidFill>
                <a:latin typeface="Arial"/>
              </a:rPr>
              <a:t>~ measured with platform drift removed.  </a:t>
            </a:r>
            <a:r>
              <a:rPr sz="900" b="0" i="0">
                <a:solidFill>
                  <a:srgbClr val="0B2545"/>
                </a:solidFill>
                <a:latin typeface="Arial"/>
              </a:rPr>
              <a:t>Ablation isolates the whole remaining failure to one cause: a constant-velocity disturbance is a ramp, and a PD loop has finite steady-state error to a ramp. Integral action is the fix — not tuning.</a:t>
            </a:r>
          </a:p>
          <a:p>
            <a:pPr>
              <a:spcAft>
                <a:spcPts val="200"/>
              </a:spcAft>
            </a:pPr>
            <a:r>
              <a:rPr sz="900" b="1" i="0">
                <a:solidFill>
                  <a:srgbClr val="0B2545"/>
                </a:solidFill>
                <a:latin typeface="Arial"/>
              </a:rPr>
              <a:t>Every figure regenerates from  </a:t>
            </a:r>
            <a:r>
              <a:rPr sz="900" b="0" i="0">
                <a:solidFill>
                  <a:srgbClr val="0B2545"/>
                </a:solidFill>
                <a:latin typeface="Arial"/>
              </a:rPr>
              <a:t>scenarios/ps26169_benchmark.yaml, which encodes their table and nothing else.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ZeroDrift — SIH 2026 Idea Submission (PS 26169, ISRO)</dc:title>
  <dc:subject>AI-Based Virtual Camera Tracking for Coarse Alignment of Mobile FSOC Terminals</dc:subject>
  <dc:creator>Team ZeroDrift, Jabalpur Engineering College</dc:creator>
  <cp:keywords>SIH 2026, PS 26169, ISRO, FSOC, ZeroDrift</cp:keywords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