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8" r:id="rId14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ISS pass: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lock in 1.27 s, median 198 µrad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Pointing error</c:v>
                </c:pt>
              </c:strCache>
            </c:strRef>
          </c:tx>
          <c:spPr>
            <a:ln w="15875">
              <a:solidFill>
                <a:srgbClr val="0E7C99"/>
              </a:solidFill>
            </a:ln>
          </c:spPr>
          <c:marker>
            <c:symbol val="none"/>
          </c:marker>
          <c:xVal>
            <c:numRef>
              <c:f>Sheet1!$A$2:$A$194</c:f>
              <c:numCache>
                <c:formatCode>General</c:formatCode>
                <c:ptCount val="193"/>
                <c:pt idx="0">
                  <c:v>0.0</c:v>
                </c:pt>
                <c:pt idx="1">
                  <c:v>0.233</c:v>
                </c:pt>
                <c:pt idx="2">
                  <c:v>0.467</c:v>
                </c:pt>
                <c:pt idx="3">
                  <c:v>0.7</c:v>
                </c:pt>
                <c:pt idx="4">
                  <c:v>0.933</c:v>
                </c:pt>
                <c:pt idx="5">
                  <c:v>1.167</c:v>
                </c:pt>
                <c:pt idx="6">
                  <c:v>1.4</c:v>
                </c:pt>
                <c:pt idx="7">
                  <c:v>1.633</c:v>
                </c:pt>
                <c:pt idx="8">
                  <c:v>1.867</c:v>
                </c:pt>
                <c:pt idx="9">
                  <c:v>2.1</c:v>
                </c:pt>
                <c:pt idx="10">
                  <c:v>2.333</c:v>
                </c:pt>
                <c:pt idx="11">
                  <c:v>2.567</c:v>
                </c:pt>
                <c:pt idx="12">
                  <c:v>2.8</c:v>
                </c:pt>
                <c:pt idx="13">
                  <c:v>3.033</c:v>
                </c:pt>
                <c:pt idx="14">
                  <c:v>3.267</c:v>
                </c:pt>
                <c:pt idx="15">
                  <c:v>3.5</c:v>
                </c:pt>
                <c:pt idx="16">
                  <c:v>3.733</c:v>
                </c:pt>
                <c:pt idx="17">
                  <c:v>3.967</c:v>
                </c:pt>
                <c:pt idx="18">
                  <c:v>4.2</c:v>
                </c:pt>
                <c:pt idx="19">
                  <c:v>4.433</c:v>
                </c:pt>
                <c:pt idx="20">
                  <c:v>4.667</c:v>
                </c:pt>
                <c:pt idx="21">
                  <c:v>4.9</c:v>
                </c:pt>
                <c:pt idx="22">
                  <c:v>5.133</c:v>
                </c:pt>
                <c:pt idx="23">
                  <c:v>5.367</c:v>
                </c:pt>
                <c:pt idx="24">
                  <c:v>5.6</c:v>
                </c:pt>
                <c:pt idx="25">
                  <c:v>5.833</c:v>
                </c:pt>
                <c:pt idx="26">
                  <c:v>6.067</c:v>
                </c:pt>
                <c:pt idx="27">
                  <c:v>6.3</c:v>
                </c:pt>
                <c:pt idx="28">
                  <c:v>6.533</c:v>
                </c:pt>
                <c:pt idx="29">
                  <c:v>6.767</c:v>
                </c:pt>
                <c:pt idx="30">
                  <c:v>7.0</c:v>
                </c:pt>
                <c:pt idx="31">
                  <c:v>7.233</c:v>
                </c:pt>
                <c:pt idx="32">
                  <c:v>7.467</c:v>
                </c:pt>
                <c:pt idx="33">
                  <c:v>7.7</c:v>
                </c:pt>
                <c:pt idx="34">
                  <c:v>7.933</c:v>
                </c:pt>
                <c:pt idx="35">
                  <c:v>8.167</c:v>
                </c:pt>
                <c:pt idx="36">
                  <c:v>8.4</c:v>
                </c:pt>
                <c:pt idx="37">
                  <c:v>8.633</c:v>
                </c:pt>
                <c:pt idx="38">
                  <c:v>8.867</c:v>
                </c:pt>
                <c:pt idx="39">
                  <c:v>9.1</c:v>
                </c:pt>
                <c:pt idx="40">
                  <c:v>9.333</c:v>
                </c:pt>
                <c:pt idx="41">
                  <c:v>9.567</c:v>
                </c:pt>
                <c:pt idx="42">
                  <c:v>9.8</c:v>
                </c:pt>
                <c:pt idx="43">
                  <c:v>10.033</c:v>
                </c:pt>
                <c:pt idx="44">
                  <c:v>10.267</c:v>
                </c:pt>
                <c:pt idx="45">
                  <c:v>10.5</c:v>
                </c:pt>
                <c:pt idx="46">
                  <c:v>10.733</c:v>
                </c:pt>
                <c:pt idx="47">
                  <c:v>10.967</c:v>
                </c:pt>
                <c:pt idx="48">
                  <c:v>11.2</c:v>
                </c:pt>
                <c:pt idx="49">
                  <c:v>11.433</c:v>
                </c:pt>
                <c:pt idx="50">
                  <c:v>11.667</c:v>
                </c:pt>
                <c:pt idx="51">
                  <c:v>11.9</c:v>
                </c:pt>
                <c:pt idx="52">
                  <c:v>12.133</c:v>
                </c:pt>
                <c:pt idx="53">
                  <c:v>12.367</c:v>
                </c:pt>
                <c:pt idx="54">
                  <c:v>12.6</c:v>
                </c:pt>
                <c:pt idx="55">
                  <c:v>12.833</c:v>
                </c:pt>
                <c:pt idx="56">
                  <c:v>13.067</c:v>
                </c:pt>
                <c:pt idx="57">
                  <c:v>13.3</c:v>
                </c:pt>
                <c:pt idx="58">
                  <c:v>13.533</c:v>
                </c:pt>
                <c:pt idx="59">
                  <c:v>13.767</c:v>
                </c:pt>
                <c:pt idx="60">
                  <c:v>14.0</c:v>
                </c:pt>
                <c:pt idx="61">
                  <c:v>14.233</c:v>
                </c:pt>
                <c:pt idx="62">
                  <c:v>14.467</c:v>
                </c:pt>
                <c:pt idx="63">
                  <c:v>14.7</c:v>
                </c:pt>
                <c:pt idx="64">
                  <c:v>14.933</c:v>
                </c:pt>
                <c:pt idx="65">
                  <c:v>15.167</c:v>
                </c:pt>
                <c:pt idx="66">
                  <c:v>15.4</c:v>
                </c:pt>
                <c:pt idx="67">
                  <c:v>15.633</c:v>
                </c:pt>
                <c:pt idx="68">
                  <c:v>15.867</c:v>
                </c:pt>
                <c:pt idx="69">
                  <c:v>16.1</c:v>
                </c:pt>
                <c:pt idx="70">
                  <c:v>16.333</c:v>
                </c:pt>
                <c:pt idx="71">
                  <c:v>16.567</c:v>
                </c:pt>
                <c:pt idx="72">
                  <c:v>16.8</c:v>
                </c:pt>
                <c:pt idx="73">
                  <c:v>17.033</c:v>
                </c:pt>
                <c:pt idx="74">
                  <c:v>17.267</c:v>
                </c:pt>
                <c:pt idx="75">
                  <c:v>17.5</c:v>
                </c:pt>
                <c:pt idx="76">
                  <c:v>17.733</c:v>
                </c:pt>
                <c:pt idx="77">
                  <c:v>17.967</c:v>
                </c:pt>
                <c:pt idx="78">
                  <c:v>18.2</c:v>
                </c:pt>
                <c:pt idx="79">
                  <c:v>18.433</c:v>
                </c:pt>
                <c:pt idx="80">
                  <c:v>18.667</c:v>
                </c:pt>
                <c:pt idx="81">
                  <c:v>18.9</c:v>
                </c:pt>
                <c:pt idx="82">
                  <c:v>19.133</c:v>
                </c:pt>
                <c:pt idx="83">
                  <c:v>19.367</c:v>
                </c:pt>
                <c:pt idx="84">
                  <c:v>19.6</c:v>
                </c:pt>
                <c:pt idx="85">
                  <c:v>19.833</c:v>
                </c:pt>
                <c:pt idx="86">
                  <c:v>20.067</c:v>
                </c:pt>
                <c:pt idx="87">
                  <c:v>20.3</c:v>
                </c:pt>
                <c:pt idx="88">
                  <c:v>20.533</c:v>
                </c:pt>
                <c:pt idx="89">
                  <c:v>20.767</c:v>
                </c:pt>
                <c:pt idx="90">
                  <c:v>21.0</c:v>
                </c:pt>
                <c:pt idx="91">
                  <c:v>21.233</c:v>
                </c:pt>
                <c:pt idx="92">
                  <c:v>21.467</c:v>
                </c:pt>
                <c:pt idx="93">
                  <c:v>21.7</c:v>
                </c:pt>
                <c:pt idx="94">
                  <c:v>21.933</c:v>
                </c:pt>
                <c:pt idx="95">
                  <c:v>22.167</c:v>
                </c:pt>
                <c:pt idx="96">
                  <c:v>22.4</c:v>
                </c:pt>
                <c:pt idx="97">
                  <c:v>22.633</c:v>
                </c:pt>
                <c:pt idx="98">
                  <c:v>22.867</c:v>
                </c:pt>
                <c:pt idx="99">
                  <c:v>23.1</c:v>
                </c:pt>
                <c:pt idx="100">
                  <c:v>23.333</c:v>
                </c:pt>
                <c:pt idx="101">
                  <c:v>23.567</c:v>
                </c:pt>
                <c:pt idx="102">
                  <c:v>23.8</c:v>
                </c:pt>
                <c:pt idx="103">
                  <c:v>24.033</c:v>
                </c:pt>
                <c:pt idx="104">
                  <c:v>24.267</c:v>
                </c:pt>
                <c:pt idx="105">
                  <c:v>24.5</c:v>
                </c:pt>
                <c:pt idx="106">
                  <c:v>24.733</c:v>
                </c:pt>
                <c:pt idx="107">
                  <c:v>24.967</c:v>
                </c:pt>
                <c:pt idx="108">
                  <c:v>25.2</c:v>
                </c:pt>
                <c:pt idx="109">
                  <c:v>25.433</c:v>
                </c:pt>
                <c:pt idx="110">
                  <c:v>25.667</c:v>
                </c:pt>
                <c:pt idx="111">
                  <c:v>25.9</c:v>
                </c:pt>
                <c:pt idx="112">
                  <c:v>26.133</c:v>
                </c:pt>
                <c:pt idx="113">
                  <c:v>26.367</c:v>
                </c:pt>
                <c:pt idx="114">
                  <c:v>26.6</c:v>
                </c:pt>
                <c:pt idx="115">
                  <c:v>26.833</c:v>
                </c:pt>
                <c:pt idx="116">
                  <c:v>27.067</c:v>
                </c:pt>
                <c:pt idx="117">
                  <c:v>27.3</c:v>
                </c:pt>
                <c:pt idx="118">
                  <c:v>27.533</c:v>
                </c:pt>
                <c:pt idx="119">
                  <c:v>27.767</c:v>
                </c:pt>
                <c:pt idx="120">
                  <c:v>28.0</c:v>
                </c:pt>
                <c:pt idx="121">
                  <c:v>28.233</c:v>
                </c:pt>
                <c:pt idx="122">
                  <c:v>28.467</c:v>
                </c:pt>
                <c:pt idx="123">
                  <c:v>28.7</c:v>
                </c:pt>
                <c:pt idx="124">
                  <c:v>28.933</c:v>
                </c:pt>
                <c:pt idx="125">
                  <c:v>29.167</c:v>
                </c:pt>
                <c:pt idx="126">
                  <c:v>29.4</c:v>
                </c:pt>
                <c:pt idx="127">
                  <c:v>29.633</c:v>
                </c:pt>
                <c:pt idx="128">
                  <c:v>29.867</c:v>
                </c:pt>
                <c:pt idx="129">
                  <c:v>30.1</c:v>
                </c:pt>
                <c:pt idx="130">
                  <c:v>30.333</c:v>
                </c:pt>
                <c:pt idx="131">
                  <c:v>30.567</c:v>
                </c:pt>
                <c:pt idx="132">
                  <c:v>30.8</c:v>
                </c:pt>
                <c:pt idx="133">
                  <c:v>31.033</c:v>
                </c:pt>
                <c:pt idx="134">
                  <c:v>31.267</c:v>
                </c:pt>
                <c:pt idx="135">
                  <c:v>31.5</c:v>
                </c:pt>
                <c:pt idx="136">
                  <c:v>31.733</c:v>
                </c:pt>
                <c:pt idx="137">
                  <c:v>31.967</c:v>
                </c:pt>
                <c:pt idx="138">
                  <c:v>32.2</c:v>
                </c:pt>
                <c:pt idx="139">
                  <c:v>32.433</c:v>
                </c:pt>
                <c:pt idx="140">
                  <c:v>32.667</c:v>
                </c:pt>
                <c:pt idx="141">
                  <c:v>32.9</c:v>
                </c:pt>
                <c:pt idx="142">
                  <c:v>33.133</c:v>
                </c:pt>
                <c:pt idx="143">
                  <c:v>33.367</c:v>
                </c:pt>
                <c:pt idx="144">
                  <c:v>33.6</c:v>
                </c:pt>
                <c:pt idx="145">
                  <c:v>33.833</c:v>
                </c:pt>
                <c:pt idx="146">
                  <c:v>34.067</c:v>
                </c:pt>
                <c:pt idx="147">
                  <c:v>34.3</c:v>
                </c:pt>
                <c:pt idx="148">
                  <c:v>34.533</c:v>
                </c:pt>
                <c:pt idx="149">
                  <c:v>34.767</c:v>
                </c:pt>
                <c:pt idx="150">
                  <c:v>35.0</c:v>
                </c:pt>
                <c:pt idx="151">
                  <c:v>35.233</c:v>
                </c:pt>
                <c:pt idx="152">
                  <c:v>35.467</c:v>
                </c:pt>
                <c:pt idx="153">
                  <c:v>35.7</c:v>
                </c:pt>
                <c:pt idx="154">
                  <c:v>35.933</c:v>
                </c:pt>
                <c:pt idx="155">
                  <c:v>36.167</c:v>
                </c:pt>
                <c:pt idx="156">
                  <c:v>36.4</c:v>
                </c:pt>
                <c:pt idx="157">
                  <c:v>36.633</c:v>
                </c:pt>
                <c:pt idx="158">
                  <c:v>36.867</c:v>
                </c:pt>
                <c:pt idx="159">
                  <c:v>37.1</c:v>
                </c:pt>
                <c:pt idx="160">
                  <c:v>37.333</c:v>
                </c:pt>
                <c:pt idx="161">
                  <c:v>37.567</c:v>
                </c:pt>
                <c:pt idx="162">
                  <c:v>37.8</c:v>
                </c:pt>
                <c:pt idx="163">
                  <c:v>38.033</c:v>
                </c:pt>
                <c:pt idx="164">
                  <c:v>38.267</c:v>
                </c:pt>
                <c:pt idx="165">
                  <c:v>38.5</c:v>
                </c:pt>
                <c:pt idx="166">
                  <c:v>38.733</c:v>
                </c:pt>
                <c:pt idx="167">
                  <c:v>38.967</c:v>
                </c:pt>
                <c:pt idx="168">
                  <c:v>39.2</c:v>
                </c:pt>
                <c:pt idx="169">
                  <c:v>39.433</c:v>
                </c:pt>
                <c:pt idx="170">
                  <c:v>39.667</c:v>
                </c:pt>
                <c:pt idx="171">
                  <c:v>39.9</c:v>
                </c:pt>
                <c:pt idx="172">
                  <c:v>40.133</c:v>
                </c:pt>
                <c:pt idx="173">
                  <c:v>40.367</c:v>
                </c:pt>
                <c:pt idx="174">
                  <c:v>40.6</c:v>
                </c:pt>
                <c:pt idx="175">
                  <c:v>40.833</c:v>
                </c:pt>
                <c:pt idx="176">
                  <c:v>41.067</c:v>
                </c:pt>
                <c:pt idx="177">
                  <c:v>41.3</c:v>
                </c:pt>
                <c:pt idx="178">
                  <c:v>41.533</c:v>
                </c:pt>
                <c:pt idx="179">
                  <c:v>41.767</c:v>
                </c:pt>
                <c:pt idx="180">
                  <c:v>42.0</c:v>
                </c:pt>
                <c:pt idx="181">
                  <c:v>42.233</c:v>
                </c:pt>
                <c:pt idx="182">
                  <c:v>42.467</c:v>
                </c:pt>
                <c:pt idx="183">
                  <c:v>42.7</c:v>
                </c:pt>
                <c:pt idx="184">
                  <c:v>42.933</c:v>
                </c:pt>
                <c:pt idx="185">
                  <c:v>43.167</c:v>
                </c:pt>
                <c:pt idx="186">
                  <c:v>43.4</c:v>
                </c:pt>
                <c:pt idx="187">
                  <c:v>43.633</c:v>
                </c:pt>
                <c:pt idx="188">
                  <c:v>43.867</c:v>
                </c:pt>
                <c:pt idx="189">
                  <c:v>44.1</c:v>
                </c:pt>
                <c:pt idx="190">
                  <c:v>44.333</c:v>
                </c:pt>
                <c:pt idx="191">
                  <c:v>44.567</c:v>
                </c:pt>
                <c:pt idx="192">
                  <c:v>44.8</c:v>
                </c:pt>
              </c:numCache>
            </c:numRef>
          </c:xVal>
          <c:yVal>
            <c:numRef>
              <c:f>Sheet1!$B$2:$B$194</c:f>
              <c:numCache>
                <c:formatCode>General</c:formatCode>
                <c:ptCount val="193"/>
                <c:pt idx="0">
                  <c:v>15151.1</c:v>
                </c:pt>
                <c:pt idx="1">
                  <c:v>28286.0</c:v>
                </c:pt>
                <c:pt idx="2">
                  <c:v>31986.1</c:v>
                </c:pt>
                <c:pt idx="3">
                  <c:v>1530.2</c:v>
                </c:pt>
                <c:pt idx="4">
                  <c:v>714.7</c:v>
                </c:pt>
                <c:pt idx="5">
                  <c:v>967.8</c:v>
                </c:pt>
                <c:pt idx="6">
                  <c:v>724.5</c:v>
                </c:pt>
                <c:pt idx="7">
                  <c:v>945.1</c:v>
                </c:pt>
                <c:pt idx="8">
                  <c:v>734.0</c:v>
                </c:pt>
                <c:pt idx="9">
                  <c:v>524.9</c:v>
                </c:pt>
                <c:pt idx="10">
                  <c:v>763.6</c:v>
                </c:pt>
                <c:pt idx="11">
                  <c:v>774.4</c:v>
                </c:pt>
                <c:pt idx="12">
                  <c:v>524.6</c:v>
                </c:pt>
                <c:pt idx="13">
                  <c:v>419.0</c:v>
                </c:pt>
                <c:pt idx="14">
                  <c:v>475.4</c:v>
                </c:pt>
                <c:pt idx="15">
                  <c:v>482.7</c:v>
                </c:pt>
                <c:pt idx="16">
                  <c:v>638.6</c:v>
                </c:pt>
                <c:pt idx="17">
                  <c:v>637.0</c:v>
                </c:pt>
                <c:pt idx="18">
                  <c:v>508.2</c:v>
                </c:pt>
                <c:pt idx="19">
                  <c:v>487.5</c:v>
                </c:pt>
                <c:pt idx="20">
                  <c:v>290.3</c:v>
                </c:pt>
                <c:pt idx="21">
                  <c:v>431.6</c:v>
                </c:pt>
                <c:pt idx="22">
                  <c:v>43.9</c:v>
                </c:pt>
                <c:pt idx="23">
                  <c:v>397.8</c:v>
                </c:pt>
                <c:pt idx="24">
                  <c:v>210.4</c:v>
                </c:pt>
                <c:pt idx="25">
                  <c:v>168.9</c:v>
                </c:pt>
                <c:pt idx="26">
                  <c:v>355.5</c:v>
                </c:pt>
                <c:pt idx="27">
                  <c:v>252.1</c:v>
                </c:pt>
                <c:pt idx="28">
                  <c:v>374.0</c:v>
                </c:pt>
                <c:pt idx="29">
                  <c:v>256.2</c:v>
                </c:pt>
                <c:pt idx="30">
                  <c:v>325.4</c:v>
                </c:pt>
                <c:pt idx="31">
                  <c:v>170.1</c:v>
                </c:pt>
                <c:pt idx="32">
                  <c:v>625.0</c:v>
                </c:pt>
                <c:pt idx="33">
                  <c:v>533.5</c:v>
                </c:pt>
                <c:pt idx="34">
                  <c:v>112.5</c:v>
                </c:pt>
                <c:pt idx="35">
                  <c:v>250.1</c:v>
                </c:pt>
                <c:pt idx="36">
                  <c:v>446.4</c:v>
                </c:pt>
                <c:pt idx="37">
                  <c:v>381.5</c:v>
                </c:pt>
                <c:pt idx="38">
                  <c:v>447.2</c:v>
                </c:pt>
                <c:pt idx="39">
                  <c:v>270.9</c:v>
                </c:pt>
                <c:pt idx="40">
                  <c:v>53.4</c:v>
                </c:pt>
                <c:pt idx="41">
                  <c:v>36.7</c:v>
                </c:pt>
                <c:pt idx="42">
                  <c:v>152.8</c:v>
                </c:pt>
                <c:pt idx="43">
                  <c:v>123.8</c:v>
                </c:pt>
                <c:pt idx="44">
                  <c:v>275.1</c:v>
                </c:pt>
                <c:pt idx="45">
                  <c:v>156.9</c:v>
                </c:pt>
                <c:pt idx="46">
                  <c:v>513.8</c:v>
                </c:pt>
                <c:pt idx="47">
                  <c:v>90.6</c:v>
                </c:pt>
                <c:pt idx="48">
                  <c:v>135.6</c:v>
                </c:pt>
                <c:pt idx="49">
                  <c:v>152.5</c:v>
                </c:pt>
                <c:pt idx="50">
                  <c:v>62.3</c:v>
                </c:pt>
                <c:pt idx="51">
                  <c:v>81.2</c:v>
                </c:pt>
                <c:pt idx="52">
                  <c:v>154.4</c:v>
                </c:pt>
                <c:pt idx="53">
                  <c:v>84.1</c:v>
                </c:pt>
                <c:pt idx="54">
                  <c:v>243.6</c:v>
                </c:pt>
                <c:pt idx="55">
                  <c:v>126.8</c:v>
                </c:pt>
                <c:pt idx="56">
                  <c:v>84.4</c:v>
                </c:pt>
                <c:pt idx="57">
                  <c:v>198.1</c:v>
                </c:pt>
                <c:pt idx="58">
                  <c:v>183.1</c:v>
                </c:pt>
                <c:pt idx="59">
                  <c:v>166.8</c:v>
                </c:pt>
                <c:pt idx="60">
                  <c:v>114.8</c:v>
                </c:pt>
                <c:pt idx="61">
                  <c:v>366.4</c:v>
                </c:pt>
                <c:pt idx="62">
                  <c:v>466.9</c:v>
                </c:pt>
                <c:pt idx="63">
                  <c:v>67.1</c:v>
                </c:pt>
                <c:pt idx="64">
                  <c:v>114.2</c:v>
                </c:pt>
                <c:pt idx="65">
                  <c:v>55.9</c:v>
                </c:pt>
                <c:pt idx="66">
                  <c:v>105.0</c:v>
                </c:pt>
                <c:pt idx="67">
                  <c:v>243.1</c:v>
                </c:pt>
                <c:pt idx="68">
                  <c:v>316.1</c:v>
                </c:pt>
                <c:pt idx="69">
                  <c:v>243.8</c:v>
                </c:pt>
                <c:pt idx="70">
                  <c:v>344.3</c:v>
                </c:pt>
                <c:pt idx="71">
                  <c:v>174.2</c:v>
                </c:pt>
                <c:pt idx="72">
                  <c:v>191.9</c:v>
                </c:pt>
                <c:pt idx="73">
                  <c:v>180.1</c:v>
                </c:pt>
                <c:pt idx="74">
                  <c:v>259.4</c:v>
                </c:pt>
                <c:pt idx="75">
                  <c:v>85.7</c:v>
                </c:pt>
                <c:pt idx="76">
                  <c:v>60.8</c:v>
                </c:pt>
                <c:pt idx="77">
                  <c:v>235.1</c:v>
                </c:pt>
                <c:pt idx="78">
                  <c:v>71.9</c:v>
                </c:pt>
                <c:pt idx="79">
                  <c:v>152.3</c:v>
                </c:pt>
                <c:pt idx="80">
                  <c:v>115.8</c:v>
                </c:pt>
                <c:pt idx="81">
                  <c:v>182.3</c:v>
                </c:pt>
                <c:pt idx="82">
                  <c:v>286.6</c:v>
                </c:pt>
                <c:pt idx="83">
                  <c:v>353.5</c:v>
                </c:pt>
                <c:pt idx="84">
                  <c:v>384.8</c:v>
                </c:pt>
                <c:pt idx="85">
                  <c:v>186.3</c:v>
                </c:pt>
                <c:pt idx="86">
                  <c:v>236.3</c:v>
                </c:pt>
                <c:pt idx="87">
                  <c:v>171.9</c:v>
                </c:pt>
                <c:pt idx="88">
                  <c:v>115.5</c:v>
                </c:pt>
                <c:pt idx="89">
                  <c:v>206.4</c:v>
                </c:pt>
                <c:pt idx="90">
                  <c:v>155.5</c:v>
                </c:pt>
                <c:pt idx="91">
                  <c:v>245.7</c:v>
                </c:pt>
                <c:pt idx="92">
                  <c:v>117.4</c:v>
                </c:pt>
                <c:pt idx="93">
                  <c:v>164.6</c:v>
                </c:pt>
                <c:pt idx="94">
                  <c:v>171.2</c:v>
                </c:pt>
                <c:pt idx="95">
                  <c:v>338.8</c:v>
                </c:pt>
                <c:pt idx="96">
                  <c:v>360.0</c:v>
                </c:pt>
                <c:pt idx="97">
                  <c:v>152.9</c:v>
                </c:pt>
                <c:pt idx="98">
                  <c:v>85.0</c:v>
                </c:pt>
                <c:pt idx="99">
                  <c:v>170.7</c:v>
                </c:pt>
                <c:pt idx="100">
                  <c:v>344.3</c:v>
                </c:pt>
                <c:pt idx="101">
                  <c:v>340.4</c:v>
                </c:pt>
                <c:pt idx="102">
                  <c:v>163.3</c:v>
                </c:pt>
                <c:pt idx="103">
                  <c:v>235.1</c:v>
                </c:pt>
                <c:pt idx="104">
                  <c:v>55.6</c:v>
                </c:pt>
                <c:pt idx="105">
                  <c:v>183.2</c:v>
                </c:pt>
                <c:pt idx="106">
                  <c:v>171.0</c:v>
                </c:pt>
                <c:pt idx="107">
                  <c:v>34.7</c:v>
                </c:pt>
                <c:pt idx="108">
                  <c:v>165.4</c:v>
                </c:pt>
                <c:pt idx="109">
                  <c:v>356.9</c:v>
                </c:pt>
                <c:pt idx="110">
                  <c:v>16.7</c:v>
                </c:pt>
                <c:pt idx="111">
                  <c:v>128.5</c:v>
                </c:pt>
                <c:pt idx="112">
                  <c:v>185.4</c:v>
                </c:pt>
                <c:pt idx="113">
                  <c:v>360.7</c:v>
                </c:pt>
                <c:pt idx="114">
                  <c:v>166.6</c:v>
                </c:pt>
                <c:pt idx="115">
                  <c:v>389.2</c:v>
                </c:pt>
                <c:pt idx="116">
                  <c:v>197.0</c:v>
                </c:pt>
                <c:pt idx="117">
                  <c:v>306.1</c:v>
                </c:pt>
                <c:pt idx="118">
                  <c:v>170.7</c:v>
                </c:pt>
                <c:pt idx="119">
                  <c:v>116.7</c:v>
                </c:pt>
                <c:pt idx="120">
                  <c:v>137.3</c:v>
                </c:pt>
                <c:pt idx="121">
                  <c:v>206.0</c:v>
                </c:pt>
                <c:pt idx="122">
                  <c:v>92.0</c:v>
                </c:pt>
                <c:pt idx="123">
                  <c:v>77.7</c:v>
                </c:pt>
                <c:pt idx="124">
                  <c:v>225.4</c:v>
                </c:pt>
                <c:pt idx="125">
                  <c:v>262.8</c:v>
                </c:pt>
                <c:pt idx="126">
                  <c:v>265.7</c:v>
                </c:pt>
                <c:pt idx="127">
                  <c:v>219.7</c:v>
                </c:pt>
                <c:pt idx="128">
                  <c:v>496.6</c:v>
                </c:pt>
                <c:pt idx="129">
                  <c:v>299.5</c:v>
                </c:pt>
                <c:pt idx="130">
                  <c:v>241.0</c:v>
                </c:pt>
                <c:pt idx="131">
                  <c:v>175.3</c:v>
                </c:pt>
                <c:pt idx="132">
                  <c:v>188.8</c:v>
                </c:pt>
                <c:pt idx="133">
                  <c:v>174.5</c:v>
                </c:pt>
                <c:pt idx="134">
                  <c:v>252.8</c:v>
                </c:pt>
                <c:pt idx="135">
                  <c:v>76.1</c:v>
                </c:pt>
                <c:pt idx="136">
                  <c:v>85.9</c:v>
                </c:pt>
                <c:pt idx="137">
                  <c:v>178.6</c:v>
                </c:pt>
                <c:pt idx="138">
                  <c:v>288.0</c:v>
                </c:pt>
                <c:pt idx="139">
                  <c:v>421.7</c:v>
                </c:pt>
                <c:pt idx="140">
                  <c:v>741.0</c:v>
                </c:pt>
                <c:pt idx="141">
                  <c:v>307.0</c:v>
                </c:pt>
                <c:pt idx="142">
                  <c:v>251.1</c:v>
                </c:pt>
                <c:pt idx="143">
                  <c:v>498.7</c:v>
                </c:pt>
                <c:pt idx="144">
                  <c:v>304.1</c:v>
                </c:pt>
                <c:pt idx="145">
                  <c:v>196.6</c:v>
                </c:pt>
                <c:pt idx="146">
                  <c:v>74.9</c:v>
                </c:pt>
                <c:pt idx="147">
                  <c:v>81.1</c:v>
                </c:pt>
                <c:pt idx="148">
                  <c:v>193.8</c:v>
                </c:pt>
                <c:pt idx="149">
                  <c:v>102.5</c:v>
                </c:pt>
                <c:pt idx="150">
                  <c:v>77.9</c:v>
                </c:pt>
                <c:pt idx="151">
                  <c:v>89.6</c:v>
                </c:pt>
                <c:pt idx="152">
                  <c:v>105.3</c:v>
                </c:pt>
                <c:pt idx="153">
                  <c:v>141.0</c:v>
                </c:pt>
                <c:pt idx="154">
                  <c:v>161.4</c:v>
                </c:pt>
                <c:pt idx="155">
                  <c:v>198.1</c:v>
                </c:pt>
                <c:pt idx="156">
                  <c:v>275.7</c:v>
                </c:pt>
                <c:pt idx="157">
                  <c:v>538.3</c:v>
                </c:pt>
                <c:pt idx="158">
                  <c:v>162.4</c:v>
                </c:pt>
                <c:pt idx="159">
                  <c:v>303.4</c:v>
                </c:pt>
                <c:pt idx="160">
                  <c:v>204.6</c:v>
                </c:pt>
                <c:pt idx="161">
                  <c:v>179.2</c:v>
                </c:pt>
                <c:pt idx="162">
                  <c:v>526.3</c:v>
                </c:pt>
                <c:pt idx="163">
                  <c:v>147.8</c:v>
                </c:pt>
                <c:pt idx="164">
                  <c:v>10</c:v>
                </c:pt>
                <c:pt idx="165">
                  <c:v>86.4</c:v>
                </c:pt>
                <c:pt idx="166">
                  <c:v>138.8</c:v>
                </c:pt>
                <c:pt idx="167">
                  <c:v>300.5</c:v>
                </c:pt>
                <c:pt idx="168">
                  <c:v>196.2</c:v>
                </c:pt>
                <c:pt idx="169">
                  <c:v>326.3</c:v>
                </c:pt>
                <c:pt idx="170">
                  <c:v>331.7</c:v>
                </c:pt>
                <c:pt idx="171">
                  <c:v>120.7</c:v>
                </c:pt>
                <c:pt idx="172">
                  <c:v>140.6</c:v>
                </c:pt>
                <c:pt idx="173">
                  <c:v>290.6</c:v>
                </c:pt>
                <c:pt idx="174">
                  <c:v>70.8</c:v>
                </c:pt>
                <c:pt idx="175">
                  <c:v>110.1</c:v>
                </c:pt>
                <c:pt idx="176">
                  <c:v>225.9</c:v>
                </c:pt>
                <c:pt idx="177">
                  <c:v>283.1</c:v>
                </c:pt>
                <c:pt idx="178">
                  <c:v>70.1</c:v>
                </c:pt>
                <c:pt idx="179">
                  <c:v>45.6</c:v>
                </c:pt>
                <c:pt idx="180">
                  <c:v>203.5</c:v>
                </c:pt>
                <c:pt idx="181">
                  <c:v>126.3</c:v>
                </c:pt>
                <c:pt idx="182">
                  <c:v>307.2</c:v>
                </c:pt>
                <c:pt idx="183">
                  <c:v>233.6</c:v>
                </c:pt>
                <c:pt idx="184">
                  <c:v>133.0</c:v>
                </c:pt>
                <c:pt idx="185">
                  <c:v>141.2</c:v>
                </c:pt>
                <c:pt idx="186">
                  <c:v>217.5</c:v>
                </c:pt>
                <c:pt idx="187">
                  <c:v>394.1</c:v>
                </c:pt>
                <c:pt idx="188">
                  <c:v>154.1</c:v>
                </c:pt>
                <c:pt idx="189">
                  <c:v>376.2</c:v>
                </c:pt>
                <c:pt idx="190">
                  <c:v>110.1</c:v>
                </c:pt>
                <c:pt idx="191">
                  <c:v>225.7</c:v>
                </c:pt>
                <c:pt idx="192">
                  <c:v>32.2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Sheet1!$B$196</c:f>
              <c:strCache>
                <c:ptCount val="1"/>
                <c:pt idx="0">
                  <c:v>Field-of-view edge</c:v>
                </c:pt>
              </c:strCache>
            </c:strRef>
          </c:tx>
          <c:spPr>
            <a:ln w="15875">
              <a:solidFill>
                <a:srgbClr val="9C2E23"/>
              </a:solidFill>
              <a:prstDash val="dash"/>
            </a:ln>
          </c:spPr>
          <c:marker>
            <c:symbol val="none"/>
          </c:marker>
          <c:xVal>
            <c:numRef>
              <c:f>Sheet1!$A$197:$A$198</c:f>
              <c:numCache>
                <c:formatCode>General</c:formatCode>
                <c:ptCount val="2"/>
                <c:pt idx="0">
                  <c:v>0</c:v>
                </c:pt>
                <c:pt idx="1">
                  <c:v>44.8</c:v>
                </c:pt>
              </c:numCache>
            </c:numRef>
          </c:xVal>
          <c:yVal>
            <c:numRef>
              <c:f>Sheet1!$B$197:$B$198</c:f>
              <c:numCache>
                <c:formatCode>General</c:formatCode>
                <c:ptCount val="2"/>
                <c:pt idx="0">
                  <c:v>52359.9</c:v>
                </c:pt>
                <c:pt idx="1">
                  <c:v>52359.9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5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800" b="0" i="0">
                    <a:solidFill>
                      <a:srgbClr val="5A6472"/>
                    </a:solidFill>
                    <a:latin typeface="Arial"/>
                  </a:rPr>
                  <a:t>time (s)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C8D2DC"/>
            </a:solidFill>
          </a:ln>
        </c:spPr>
        <c:txPr>
          <a:bodyPr/>
          <a:lstStyle/>
          <a:p>
            <a:pPr>
              <a:defRPr sz="800">
                <a:solidFill>
                  <a:srgbClr val="5A6472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logBase val="10"/>
          <c:orientation val="minMax"/>
          <c:max val="100000.0"/>
          <c:min val="10.0"/>
        </c:scaling>
        <c:delete val="0"/>
        <c:axPos val="l"/>
        <c:majorGridlines>
          <c:spPr>
            <a:ln>
              <a:solidFill>
                <a:srgbClr val="E4EA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C8D2DC"/>
            </a:solidFill>
          </a:ln>
        </c:spPr>
        <c:txPr>
          <a:bodyPr/>
          <a:lstStyle/>
          <a:p>
            <a:pPr>
              <a:defRPr sz="800">
                <a:solidFill>
                  <a:srgbClr val="5A6472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>
              <a:solidFill>
                <a:srgbClr val="5A647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Live demo: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% of time locked, 12 scenes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Lock held (%)</c:v>
                </c:pt>
              </c:strCache>
            </c:strRef>
          </c:tx>
          <c:spPr>
            <a:solidFill>
              <a:srgbClr val="1F8A5B"/>
            </a:solidFill>
          </c:spPr>
          <c:cat>
            <c:strRef>
              <c:f>Sheet1!$A$2:$A$13</c:f>
              <c:strCache>
                <c:ptCount val="12"/>
                <c:pt idx="0">
                  <c:v>Wrong-rate strobes</c:v>
                </c:pt>
                <c:pt idx="1">
                  <c:v>Torch turning</c:v>
                </c:pt>
                <c:pt idx="2">
                  <c:v>4.6 Hz beacon</c:v>
                </c:pt>
                <c:pt idx="3">
                  <c:v>Phone screen</c:v>
                </c:pt>
                <c:pt idx="4">
                  <c:v>Past a lamp</c:v>
                </c:pt>
                <c:pt idx="5">
                  <c:v>Hand, run 3</c:v>
                </c:pt>
                <c:pt idx="6">
                  <c:v>Hand, run 2</c:v>
                </c:pt>
                <c:pt idx="7">
                  <c:v>Hand, run 1</c:v>
                </c:pt>
                <c:pt idx="8">
                  <c:v>Fast figure-8</c:v>
                </c:pt>
                <c:pt idx="9">
                  <c:v>Figure-8</c:v>
                </c:pt>
                <c:pt idx="10">
                  <c:v>Slow circle</c:v>
                </c:pt>
                <c:pt idx="11">
                  <c:v>Still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</c:v>
                </c:pt>
                <c:pt idx="1">
                  <c:v>100.0</c:v>
                </c:pt>
                <c:pt idx="2">
                  <c:v>99.6</c:v>
                </c:pt>
                <c:pt idx="3">
                  <c:v>100.0</c:v>
                </c:pt>
                <c:pt idx="4">
                  <c:v>100.0</c:v>
                </c:pt>
                <c:pt idx="5">
                  <c:v>97.9</c:v>
                </c:pt>
                <c:pt idx="6">
                  <c:v>99.5</c:v>
                </c:pt>
                <c:pt idx="7">
                  <c:v>95.4</c:v>
                </c:pt>
                <c:pt idx="8">
                  <c:v>93.7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75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D2DC"/>
            </a:solidFill>
          </a:ln>
        </c:spPr>
        <c:txPr>
          <a:bodyPr/>
          <a:lstStyle/>
          <a:p>
            <a:pPr>
              <a:defRPr sz="800">
                <a:solidFill>
                  <a:srgbClr val="0B254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image" Target="../media/image16.jpg"/><Relationship Id="rId12" Type="http://schemas.openxmlformats.org/officeDocument/2006/relationships/hyperlink" Target="https://github.com/pranshukesavmishra/SIH-2026" TargetMode="External"/><Relationship Id="rId13" Type="http://schemas.openxmlformats.org/officeDocument/2006/relationships/hyperlink" Target="https://zerodrift-fsoc-pat.netlify.app/" TargetMode="External"/><Relationship Id="rId14" Type="http://schemas.openxmlformats.org/officeDocument/2006/relationships/image" Target="../media/image1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4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4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29184" y="5138928"/>
            <a:ext cx="5349240" cy="100584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150" b="1" i="0">
                <a:solidFill>
                  <a:srgbClr val="0B2545"/>
                </a:solidFill>
                <a:latin typeface="Arial"/>
              </a:rPr>
              <a:t>The problem in one line: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mobile laser (FSOC) terminal must find, verify and continuously point at its partner's beacon with hair-thin accuracy — ISRO asks for this coarse-alignment brain, proven entirely in software.</a:t>
            </a:r>
          </a:p>
        </p:txBody>
      </p:sp>
      <p:pic>
        <p:nvPicPr>
          <p:cNvPr id="39" name="Picture 38" descr="c1_is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5779008"/>
            <a:ext cx="1511503" cy="868680"/>
          </a:xfrm>
          <a:prstGeom prst="rect">
            <a:avLst/>
          </a:prstGeom>
        </p:spPr>
      </p:pic>
      <p:pic>
        <p:nvPicPr>
          <p:cNvPr id="40" name="Picture 39" descr="logo_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5742432"/>
            <a:ext cx="2187208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548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0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92608" y="1810512"/>
            <a:ext cx="4526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9C2E23"/>
                </a:solidFill>
                <a:latin typeface="Arial"/>
              </a:rPr>
              <a:t>THE PROBLEM</a:t>
            </a:r>
            <a:r>
              <a:rPr sz="1000" b="0" i="0">
                <a:solidFill>
                  <a:srgbClr val="5A6472"/>
                </a:solidFill>
                <a:latin typeface="Arial"/>
              </a:rPr>
              <a:t>   why pointing is the hard part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292608" y="2176272"/>
            <a:ext cx="4526280" cy="84124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402336" y="2231136"/>
            <a:ext cx="1188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9C2E23"/>
                </a:solidFill>
                <a:latin typeface="Arial"/>
              </a:rPr>
              <a:t>µrad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1645920" y="2249424"/>
            <a:ext cx="3090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Laser beams are hair-thin. Both terminals must stay pointed at each other to micro-radians, on platforms that move and shake.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1645920" y="2798064"/>
            <a:ext cx="3090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50" b="0" i="1">
                <a:solidFill>
                  <a:srgbClr val="5A6472"/>
                </a:solidFill>
                <a:latin typeface="Arial"/>
              </a:rPr>
              <a:t>Kaymak et al., IEEE Commun. Surveys &amp; Tutorials 20(2), 2018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92608" y="3108960"/>
            <a:ext cx="4526280" cy="84124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402336" y="3163824"/>
            <a:ext cx="1188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9C2E23"/>
                </a:solidFill>
                <a:latin typeface="Arial"/>
              </a:rPr>
              <a:t>100 Gbps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1645920" y="3182112"/>
            <a:ext cx="3090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The record 100 Gbps link to a moving drone stayed up only because a camera tracked the target (10 Hz vision + 200 Hz tip/tilt).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1645920" y="3730752"/>
            <a:ext cx="3090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50" b="0" i="1">
                <a:solidFill>
                  <a:srgbClr val="5A6472"/>
                </a:solidFill>
                <a:latin typeface="Arial"/>
              </a:rPr>
              <a:t>Walsh et al., Scientific Reports 12, 2022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292608" y="4041648"/>
            <a:ext cx="4526280" cy="84124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402336" y="4096511"/>
            <a:ext cx="1188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9C2E23"/>
                </a:solidFill>
                <a:latin typeface="Arial"/>
              </a:rPr>
              <a:t>1/5 cost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1645920" y="4114800"/>
            <a:ext cx="3090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Free-space optics costs about one-fifth of laying fibre and deploys in hours — India's last-mile and disaster links need it mobile.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1645920" y="4663440"/>
            <a:ext cx="3090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50" b="0" i="1">
                <a:solidFill>
                  <a:srgbClr val="5A6472"/>
                </a:solidFill>
                <a:latin typeface="Arial"/>
              </a:rPr>
              <a:t>TEC / DoT, White Paper on Free Space Optics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292608" y="4992624"/>
            <a:ext cx="4526280" cy="1243584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050" b="1" i="0">
                <a:solidFill>
                  <a:srgbClr val="9C2E23"/>
                </a:solidFill>
                <a:latin typeface="Arial"/>
              </a:rPr>
              <a:t>ISRO PS26169 asks for the coarse-alignment brain: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0B2545"/>
                </a:solidFill>
                <a:latin typeface="Arial"/>
              </a:rPr>
              <a:t>find the partner's beacon among stars, glints and decoys, prove it is the right one, and hold it centred — in software.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20624" y="5687568"/>
            <a:ext cx="135331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B9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9C2E23"/>
                </a:solidFill>
                <a:latin typeface="Arial"/>
              </a:rPr>
              <a:t>≤ 2 s  </a:t>
            </a:r>
            <a:r>
              <a:rPr sz="850" b="0" i="0">
                <a:solidFill>
                  <a:srgbClr val="5A6472"/>
                </a:solidFill>
                <a:latin typeface="Arial"/>
              </a:rPr>
              <a:t>acquire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1883664" y="5687568"/>
            <a:ext cx="135331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B9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9C2E23"/>
                </a:solidFill>
                <a:latin typeface="Arial"/>
              </a:rPr>
              <a:t>≤ 10 px  </a:t>
            </a:r>
            <a:r>
              <a:rPr sz="850" b="0" i="0">
                <a:solidFill>
                  <a:srgbClr val="5A6472"/>
                </a:solidFill>
                <a:latin typeface="Arial"/>
              </a:rPr>
              <a:t>error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3346704" y="5687568"/>
            <a:ext cx="135331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B9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9C2E23"/>
                </a:solidFill>
                <a:latin typeface="Arial"/>
              </a:rPr>
              <a:t>≥ 20  </a:t>
            </a:r>
            <a:r>
              <a:rPr sz="850" b="0" i="0">
                <a:solidFill>
                  <a:srgbClr val="5A6472"/>
                </a:solidFill>
                <a:latin typeface="Arial"/>
              </a:rPr>
              <a:t>FPS</a:t>
            </a:r>
          </a:p>
        </p:txBody>
      </p:sp>
      <p:sp>
        <p:nvSpPr>
          <p:cNvPr id="15380" name="Chevron 15379"/>
          <p:cNvSpPr/>
          <p:nvPr/>
        </p:nvSpPr>
        <p:spPr>
          <a:xfrm>
            <a:off x="4937760" y="3383280"/>
            <a:ext cx="329184" cy="640080"/>
          </a:xfrm>
          <a:prstGeom prst="chevron">
            <a:avLst/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5413248" y="1810512"/>
            <a:ext cx="6492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E7C99"/>
                </a:solidFill>
                <a:latin typeface="Arial"/>
              </a:rPr>
              <a:t>OUR SOLUTION — ZERODRIFT</a:t>
            </a:r>
            <a:r>
              <a:rPr sz="1000" b="0" i="0">
                <a:solidFill>
                  <a:srgbClr val="5A6472"/>
                </a:solidFill>
                <a:latin typeface="Arial"/>
              </a:rPr>
              <a:t>   the eyes and neck of a laser terminal</a:t>
            </a:r>
          </a:p>
        </p:txBody>
      </p:sp>
      <p:pic>
        <p:nvPicPr>
          <p:cNvPr id="15382" name="Picture 15381" descr="c2_card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2176272"/>
            <a:ext cx="4297680" cy="2154120"/>
          </a:xfrm>
          <a:prstGeom prst="rect">
            <a:avLst/>
          </a:prstGeom>
        </p:spPr>
      </p:pic>
      <p:pic>
        <p:nvPicPr>
          <p:cNvPr id="15383" name="Picture 15382" descr="c2_chip1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2" y="2176272"/>
            <a:ext cx="1721060" cy="676656"/>
          </a:xfrm>
          <a:prstGeom prst="rect">
            <a:avLst/>
          </a:prstGeom>
        </p:spPr>
      </p:pic>
      <p:pic>
        <p:nvPicPr>
          <p:cNvPr id="15384" name="Picture 15383" descr="c2_chip2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916936"/>
            <a:ext cx="1676930" cy="676656"/>
          </a:xfrm>
          <a:prstGeom prst="rect">
            <a:avLst/>
          </a:prstGeom>
        </p:spPr>
      </p:pic>
      <p:pic>
        <p:nvPicPr>
          <p:cNvPr id="15385" name="Picture 15384" descr="c2_chip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3657600"/>
            <a:ext cx="1662220" cy="676656"/>
          </a:xfrm>
          <a:prstGeom prst="rect">
            <a:avLst/>
          </a:prstGeom>
        </p:spPr>
      </p:pic>
      <p:sp>
        <p:nvSpPr>
          <p:cNvPr id="15386" name="TextBox 15385"/>
          <p:cNvSpPr txBox="1"/>
          <p:nvPr/>
        </p:nvSpPr>
        <p:spPr>
          <a:xfrm>
            <a:off x="9857232" y="4389120"/>
            <a:ext cx="2057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1">
                <a:solidFill>
                  <a:srgbClr val="5A6472"/>
                </a:solidFill>
                <a:latin typeface="Arial"/>
              </a:rPr>
              <a:t>64 simulated LEO passes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5413248" y="4645152"/>
            <a:ext cx="2084831" cy="1591056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73152"/>
          <a:lstStyle/>
          <a:p>
            <a:pPr algn="l"/>
            <a:r>
              <a:rPr sz="1800" b="1" i="0">
                <a:solidFill>
                  <a:srgbClr val="0E7C99"/>
                </a:solidFill>
                <a:latin typeface="Arial"/>
              </a:rPr>
              <a:t>01</a:t>
            </a:r>
          </a:p>
          <a:p>
            <a:pPr algn="l">
              <a:spcBef>
                <a:spcPts val="200"/>
              </a:spcBef>
            </a:pPr>
            <a:r>
              <a:rPr sz="1100" b="1" i="0">
                <a:solidFill>
                  <a:srgbClr val="0B2545"/>
                </a:solidFill>
                <a:latin typeface="Arial"/>
              </a:rPr>
              <a:t>Identity, not brightness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0B2545"/>
                </a:solidFill>
                <a:latin typeface="Arial"/>
              </a:rPr>
              <a:t>Locks only on the 4 Hz blink. Lamps, stars, glints and wrong-rate strobes are rejected.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7598664" y="4645152"/>
            <a:ext cx="2084831" cy="1591056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73152"/>
          <a:lstStyle/>
          <a:p>
            <a:pPr algn="l"/>
            <a:r>
              <a:rPr sz="1800" b="1" i="0">
                <a:solidFill>
                  <a:srgbClr val="0E7C99"/>
                </a:solidFill>
                <a:latin typeface="Arial"/>
              </a:rPr>
              <a:t>02</a:t>
            </a:r>
          </a:p>
          <a:p>
            <a:pPr algn="l">
              <a:spcBef>
                <a:spcPts val="200"/>
              </a:spcBef>
            </a:pPr>
            <a:r>
              <a:rPr sz="1100" b="1" i="0">
                <a:solidFill>
                  <a:srgbClr val="0B2545"/>
                </a:solidFill>
                <a:latin typeface="Arial"/>
              </a:rPr>
              <a:t>Built and running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0B2545"/>
                </a:solidFill>
                <a:latin typeface="Arial"/>
              </a:rPr>
              <a:t>Live webcam demo, MK1 servo rig, MK2 stepper terminal — ₹6,709 bill of materials.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9784080" y="4645152"/>
            <a:ext cx="2084831" cy="1591056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73152"/>
          <a:lstStyle/>
          <a:p>
            <a:pPr algn="l"/>
            <a:r>
              <a:rPr sz="1800" b="1" i="0">
                <a:solidFill>
                  <a:srgbClr val="0E7C99"/>
                </a:solidFill>
                <a:latin typeface="Arial"/>
              </a:rPr>
              <a:t>03</a:t>
            </a:r>
          </a:p>
          <a:p>
            <a:pPr algn="l">
              <a:spcBef>
                <a:spcPts val="200"/>
              </a:spcBef>
            </a:pPr>
            <a:r>
              <a:rPr sz="1100" b="1" i="0">
                <a:solidFill>
                  <a:srgbClr val="0B2545"/>
                </a:solidFill>
                <a:latin typeface="Arial"/>
              </a:rPr>
              <a:t>Measured, not claimed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0B2545"/>
                </a:solidFill>
                <a:latin typeface="Arial"/>
              </a:rPr>
              <a:t>250 passing tests. Every number on these slides regenerates from one command.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37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09344"/>
            <a:ext cx="1700784" cy="93268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B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09728" tIns="36576" bIns="73152"/>
          <a:lstStyle/>
          <a:p>
            <a:pPr algn="ctr"/>
            <a:r>
              <a:rPr sz="1200" b="1" i="0">
                <a:solidFill>
                  <a:srgbClr val="0E7C99"/>
                </a:solidFill>
                <a:latin typeface="Arial"/>
              </a:rPr>
              <a:t>1  </a:t>
            </a:r>
            <a:r>
              <a:rPr sz="1400" b="1" i="0">
                <a:solidFill>
                  <a:srgbClr val="0B2545"/>
                </a:solidFill>
                <a:latin typeface="Arial"/>
              </a:rPr>
              <a:t>Camera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640×480 · 30 fps</a:t>
            </a:r>
          </a:p>
          <a:p>
            <a:pPr>
              <a:spcBef>
                <a:spcPts val="100"/>
              </a:spcBef>
            </a:pPr>
            <a:r>
              <a:rPr sz="900" b="0" i="0">
                <a:solidFill>
                  <a:srgbClr val="5A6472"/>
                </a:solidFill>
                <a:latin typeface="Arial"/>
              </a:rPr>
              <a:t>rides the gimbal, boresighted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2112264" y="1984248"/>
            <a:ext cx="182880" cy="182880"/>
          </a:xfrm>
          <a:prstGeom prst="rightArrow">
            <a:avLst/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2322576" y="1609344"/>
            <a:ext cx="1700784" cy="93268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B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09728" tIns="36576" bIns="73152"/>
          <a:lstStyle/>
          <a:p>
            <a:pPr algn="ctr"/>
            <a:r>
              <a:rPr sz="1200" b="1" i="0">
                <a:solidFill>
                  <a:srgbClr val="0E7C99"/>
                </a:solidFill>
                <a:latin typeface="Arial"/>
              </a:rPr>
              <a:t>2  </a:t>
            </a:r>
            <a:r>
              <a:rPr sz="1400" b="1" i="0">
                <a:solidFill>
                  <a:srgbClr val="0B2545"/>
                </a:solidFill>
                <a:latin typeface="Arial"/>
              </a:rPr>
              <a:t>Detect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salt &amp; pepper filter</a:t>
            </a:r>
          </a:p>
          <a:p>
            <a:pPr>
              <a:spcBef>
                <a:spcPts val="100"/>
              </a:spcBef>
            </a:pPr>
            <a:r>
              <a:rPr sz="900" b="0" i="0">
                <a:solidFill>
                  <a:srgbClr val="5A6472"/>
                </a:solidFill>
                <a:latin typeface="Arial"/>
              </a:rPr>
              <a:t>sub-pixel spots · CFAR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4050792" y="1984248"/>
            <a:ext cx="182880" cy="182880"/>
          </a:xfrm>
          <a:prstGeom prst="rightArrow">
            <a:avLst/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261104" y="1609344"/>
            <a:ext cx="1700784" cy="93268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B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09728" tIns="36576" bIns="73152"/>
          <a:lstStyle/>
          <a:p>
            <a:pPr algn="ctr"/>
            <a:r>
              <a:rPr sz="1200" b="1" i="0">
                <a:solidFill>
                  <a:srgbClr val="0E7C99"/>
                </a:solidFill>
                <a:latin typeface="Arial"/>
              </a:rPr>
              <a:t>3  </a:t>
            </a:r>
            <a:r>
              <a:rPr sz="1400" b="1" i="0">
                <a:solidFill>
                  <a:srgbClr val="0B2545"/>
                </a:solidFill>
                <a:latin typeface="Arial"/>
              </a:rPr>
              <a:t>Identify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4 Hz blink test</a:t>
            </a:r>
          </a:p>
          <a:p>
            <a:pPr>
              <a:spcBef>
                <a:spcPts val="100"/>
              </a:spcBef>
            </a:pPr>
            <a:r>
              <a:rPr sz="900" b="0" i="0">
                <a:solidFill>
                  <a:srgbClr val="5A6472"/>
                </a:solidFill>
                <a:latin typeface="Arial"/>
              </a:rPr>
              <a:t>decoys + wrong rates vetoed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5989320" y="1984248"/>
            <a:ext cx="182880" cy="182880"/>
          </a:xfrm>
          <a:prstGeom prst="rightArrow">
            <a:avLst/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199632" y="1609344"/>
            <a:ext cx="1700784" cy="93268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B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09728" tIns="36576" bIns="73152"/>
          <a:lstStyle/>
          <a:p>
            <a:pPr algn="ctr"/>
            <a:r>
              <a:rPr sz="1200" b="1" i="0">
                <a:solidFill>
                  <a:srgbClr val="0E7C99"/>
                </a:solidFill>
                <a:latin typeface="Arial"/>
              </a:rPr>
              <a:t>4  </a:t>
            </a:r>
            <a:r>
              <a:rPr sz="1400" b="1" i="0">
                <a:solidFill>
                  <a:srgbClr val="0B2545"/>
                </a:solidFill>
                <a:latin typeface="Arial"/>
              </a:rPr>
              <a:t>Track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IMM Kalman filter</a:t>
            </a:r>
          </a:p>
          <a:p>
            <a:pPr>
              <a:spcBef>
                <a:spcPts val="100"/>
              </a:spcBef>
            </a:pPr>
            <a:r>
              <a:rPr sz="900" b="0" i="0">
                <a:solidFill>
                  <a:srgbClr val="5A6472"/>
                </a:solidFill>
                <a:latin typeface="Arial"/>
              </a:rPr>
              <a:t>coasts the dark half-cycle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7927848" y="1984248"/>
            <a:ext cx="182880" cy="182880"/>
          </a:xfrm>
          <a:prstGeom prst="rightArrow">
            <a:avLst/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8138160" y="1609344"/>
            <a:ext cx="1700784" cy="93268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B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09728" tIns="36576" bIns="73152"/>
          <a:lstStyle/>
          <a:p>
            <a:pPr algn="ctr"/>
            <a:r>
              <a:rPr sz="1200" b="1" i="0">
                <a:solidFill>
                  <a:srgbClr val="0E7C99"/>
                </a:solidFill>
                <a:latin typeface="Arial"/>
              </a:rPr>
              <a:t>5  </a:t>
            </a:r>
            <a:r>
              <a:rPr sz="1400" b="1" i="0">
                <a:solidFill>
                  <a:srgbClr val="0B2545"/>
                </a:solidFill>
                <a:latin typeface="Arial"/>
              </a:rPr>
              <a:t>Control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Smith predictor</a:t>
            </a:r>
          </a:p>
          <a:p>
            <a:pPr>
              <a:spcBef>
                <a:spcPts val="100"/>
              </a:spcBef>
            </a:pPr>
            <a:r>
              <a:rPr sz="900" b="0" i="0">
                <a:solidFill>
                  <a:srgbClr val="5A6472"/>
                </a:solidFill>
                <a:latin typeface="Arial"/>
              </a:rPr>
              <a:t>type-2 loop cancels drift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9866376" y="1984248"/>
            <a:ext cx="182880" cy="182880"/>
          </a:xfrm>
          <a:prstGeom prst="rightArrow">
            <a:avLst/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10076688" y="1609344"/>
            <a:ext cx="1700784" cy="93268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B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09728" tIns="36576" bIns="73152"/>
          <a:lstStyle/>
          <a:p>
            <a:pPr algn="ctr"/>
            <a:r>
              <a:rPr sz="1200" b="1" i="0">
                <a:solidFill>
                  <a:srgbClr val="0E7C99"/>
                </a:solidFill>
                <a:latin typeface="Arial"/>
              </a:rPr>
              <a:t>6  </a:t>
            </a:r>
            <a:r>
              <a:rPr sz="1400" b="1" i="0">
                <a:solidFill>
                  <a:srgbClr val="0B2545"/>
                </a:solidFill>
                <a:latin typeface="Arial"/>
              </a:rPr>
              <a:t>Gimbal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2× NEMA17 steppers</a:t>
            </a:r>
          </a:p>
          <a:p>
            <a:pPr>
              <a:spcBef>
                <a:spcPts val="100"/>
              </a:spcBef>
            </a:pPr>
            <a:r>
              <a:rPr sz="900" b="0" i="0">
                <a:solidFill>
                  <a:srgbClr val="5A6472"/>
                </a:solidFill>
                <a:latin typeface="Arial"/>
              </a:rPr>
              <a:t>AS5600 angle feedback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10927080" y="2542032"/>
            <a:ext cx="0" cy="182880"/>
          </a:xfrm>
          <a:prstGeom prst="line">
            <a:avLst/>
          </a:prstGeom>
          <a:ln w="22225">
            <a:solidFill>
              <a:srgbClr val="0E7C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3" name="Connector 17422"/>
          <p:cNvCxnSpPr/>
          <p:nvPr/>
        </p:nvCxnSpPr>
        <p:spPr>
          <a:xfrm flipH="1">
            <a:off x="1234440" y="2724912"/>
            <a:ext cx="9692640" cy="0"/>
          </a:xfrm>
          <a:prstGeom prst="line">
            <a:avLst/>
          </a:prstGeom>
          <a:ln w="22225">
            <a:solidFill>
              <a:srgbClr val="0E7C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4" name="Connector 17423"/>
          <p:cNvCxnSpPr/>
          <p:nvPr/>
        </p:nvCxnSpPr>
        <p:spPr>
          <a:xfrm flipV="1">
            <a:off x="1234440" y="2542032"/>
            <a:ext cx="0" cy="182880"/>
          </a:xfrm>
          <a:prstGeom prst="line">
            <a:avLst/>
          </a:prstGeom>
          <a:ln w="22225">
            <a:solidFill>
              <a:srgbClr val="0E7C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TextBox 17424"/>
          <p:cNvSpPr txBox="1"/>
          <p:nvPr/>
        </p:nvSpPr>
        <p:spPr>
          <a:xfrm>
            <a:off x="2926080" y="2752344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0E7C99"/>
                </a:solidFill>
                <a:latin typeface="Arial"/>
              </a:rPr>
              <a:t>closed optical loop — the camera moves with the laser, so the error is measured on the image itself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84048" y="325526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STATE MACHINE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2103120" y="320040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B2545"/>
                </a:solidFill>
                <a:latin typeface="Arial"/>
              </a:rPr>
              <a:t>SEARCH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3520439" y="3218688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E7C99"/>
                </a:solidFill>
                <a:latin typeface="Arial"/>
              </a:rPr>
              <a:t>→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922776" y="320040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D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B2545"/>
                </a:solidFill>
                <a:latin typeface="Arial"/>
              </a:rPr>
              <a:t>ACQUIRE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340096" y="3218688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E7C99"/>
                </a:solidFill>
                <a:latin typeface="Arial"/>
              </a:rPr>
              <a:t>→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5742431" y="320040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B2545"/>
                </a:solidFill>
                <a:latin typeface="Arial"/>
              </a:rPr>
              <a:t>TRACK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159751" y="3218688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E7C99"/>
                </a:solidFill>
                <a:latin typeface="Arial"/>
              </a:rPr>
              <a:t>⇄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7562088" y="320040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DE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B2545"/>
                </a:solidFill>
                <a:latin typeface="Arial"/>
              </a:rPr>
              <a:t>COAST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979408" y="3218688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E7C99"/>
                </a:solidFill>
                <a:latin typeface="Arial"/>
              </a:rPr>
              <a:t>→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381744" y="320040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B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B2545"/>
                </a:solidFill>
                <a:latin typeface="Arial"/>
              </a:rPr>
              <a:t>REACQUIRE</a:t>
            </a:r>
          </a:p>
        </p:txBody>
      </p:sp>
      <p:graphicFrame>
        <p:nvGraphicFramePr>
          <p:cNvPr id="17436" name="Chart 17435"/>
          <p:cNvGraphicFramePr>
            <a:graphicFrameLocks noGrp="1"/>
          </p:cNvGraphicFramePr>
          <p:nvPr/>
        </p:nvGraphicFramePr>
        <p:xfrm>
          <a:off x="292608" y="3749039"/>
          <a:ext cx="4526280" cy="248716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7437" name="Chart 17436"/>
          <p:cNvGraphicFramePr>
            <a:graphicFrameLocks noGrp="1"/>
          </p:cNvGraphicFramePr>
          <p:nvPr/>
        </p:nvGraphicFramePr>
        <p:xfrm>
          <a:off x="4983480" y="3749039"/>
          <a:ext cx="3977639" cy="248716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438" name="Rounded Rectangle 17437"/>
          <p:cNvSpPr/>
          <p:nvPr/>
        </p:nvSpPr>
        <p:spPr>
          <a:xfrm>
            <a:off x="9125712" y="3749039"/>
            <a:ext cx="2770632" cy="2487168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/>
            <a:r>
              <a:rPr sz="1000" b="1" i="0">
                <a:solidFill>
                  <a:srgbClr val="5A6472"/>
                </a:solidFill>
                <a:latin typeface="Arial"/>
              </a:rPr>
              <a:t>BUILT WITH</a:t>
            </a:r>
          </a:p>
          <a:p>
            <a:pPr algn="l">
              <a:spcBef>
                <a:spcPts val="5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Engine</a:t>
            </a:r>
          </a:p>
          <a:p>
            <a:pPr algn="l"/>
            <a:r>
              <a:rPr sz="950" b="0" i="0">
                <a:solidFill>
                  <a:srgbClr val="5A6472"/>
                </a:solidFill>
                <a:latin typeface="Arial"/>
              </a:rPr>
              <a:t>Python · NumPy · OpenCV</a:t>
            </a:r>
          </a:p>
          <a:p>
            <a:pPr algn="l">
              <a:spcBef>
                <a:spcPts val="5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Web demo</a:t>
            </a:r>
          </a:p>
          <a:p>
            <a:pPr algn="l"/>
            <a:r>
              <a:rPr sz="950" b="0" i="0">
                <a:solidFill>
                  <a:srgbClr val="5A6472"/>
                </a:solidFill>
                <a:latin typeface="Arial"/>
              </a:rPr>
              <a:t>JavaScript · three.js · Web Serial</a:t>
            </a:r>
          </a:p>
          <a:p>
            <a:pPr algn="l">
              <a:spcBef>
                <a:spcPts val="5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Hardware</a:t>
            </a:r>
          </a:p>
          <a:p>
            <a:pPr algn="l"/>
            <a:r>
              <a:rPr sz="950" b="0" i="0">
                <a:solidFill>
                  <a:srgbClr val="5A6472"/>
                </a:solidFill>
                <a:latin typeface="Arial"/>
              </a:rPr>
              <a:t>Arduino Nano · A4988 · AS5600</a:t>
            </a:r>
          </a:p>
          <a:p>
            <a:pPr algn="l">
              <a:spcBef>
                <a:spcPts val="5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Proof</a:t>
            </a:r>
          </a:p>
          <a:p>
            <a:pPr algn="l"/>
            <a:r>
              <a:rPr sz="950" b="0" i="0">
                <a:solidFill>
                  <a:srgbClr val="5A6472"/>
                </a:solidFill>
                <a:latin typeface="Arial"/>
              </a:rPr>
              <a:t>pytest · 250 tests · GitHub Actions</a:t>
            </a:r>
          </a:p>
          <a:p>
            <a:pPr algn="l">
              <a:spcBef>
                <a:spcPts val="500"/>
              </a:spcBef>
            </a:pPr>
            <a:r>
              <a:rPr sz="1000" b="1" i="0">
                <a:solidFill>
                  <a:srgbClr val="0B2545"/>
                </a:solidFill>
                <a:latin typeface="Arial"/>
              </a:rPr>
              <a:t>Acquisition</a:t>
            </a:r>
          </a:p>
          <a:p>
            <a:pPr algn="l"/>
            <a:r>
              <a:rPr sz="950" b="0" i="0">
                <a:solidFill>
                  <a:srgbClr val="5A6472"/>
                </a:solidFill>
                <a:latin typeface="Arial"/>
              </a:rPr>
              <a:t>0.55–1.1 s in the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37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c4_co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481328"/>
            <a:ext cx="10259568" cy="3952457"/>
          </a:xfrm>
          <a:prstGeom prst="rect">
            <a:avLst/>
          </a:prstGeom>
        </p:spPr>
      </p:pic>
      <p:pic>
        <p:nvPicPr>
          <p:cNvPr id="17412" name="Picture 17411" descr="c4_stri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7248" y="5486400"/>
            <a:ext cx="5943600" cy="850873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0040" y="5541264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64 runs, our LEO scenarios →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never a wrong lock, never a failed acquisition.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189720" y="5541264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Reproducible: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every number regenerates from one command.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37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74320" y="1499616"/>
            <a:ext cx="3886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1F8A5B"/>
                </a:solidFill>
                <a:latin typeface="Arial"/>
              </a:rPr>
              <a:t>ECONOMIC FEASIBILITY</a:t>
            </a:r>
            <a:r>
              <a:rPr sz="1050" b="0" i="0">
                <a:solidFill>
                  <a:srgbClr val="5A6472"/>
                </a:solidFill>
                <a:latin typeface="Arial"/>
              </a:rPr>
              <a:t>  — the arithmetic that removes the cost barrier</a:t>
            </a:r>
          </a:p>
        </p:txBody>
      </p:sp>
      <p:pic>
        <p:nvPicPr>
          <p:cNvPr id="17412" name="Picture 17411" descr="c_econ_capit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883664"/>
            <a:ext cx="3712463" cy="193386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  <p:pic>
        <p:nvPicPr>
          <p:cNvPr id="17413" name="Picture 17412" descr="c_econ_sta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895344"/>
            <a:ext cx="3712463" cy="1188335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  <p:pic>
        <p:nvPicPr>
          <p:cNvPr id="17414" name="Picture 17413" descr="c5_card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1104" y="1481328"/>
            <a:ext cx="7498079" cy="3622300"/>
          </a:xfrm>
          <a:prstGeom prst="rect">
            <a:avLst/>
          </a:prstGeom>
        </p:spPr>
      </p:pic>
      <p:pic>
        <p:nvPicPr>
          <p:cNvPr id="17415" name="Picture 17414" descr="c5_audienc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5175504"/>
            <a:ext cx="5230368" cy="1147011"/>
          </a:xfrm>
          <a:prstGeom prst="rect">
            <a:avLst/>
          </a:prstGeom>
        </p:spPr>
      </p:pic>
      <p:pic>
        <p:nvPicPr>
          <p:cNvPr id="17416" name="Picture 17415" descr="c5_linkbo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5175504"/>
            <a:ext cx="5257800" cy="114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444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810512"/>
            <a:ext cx="562356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95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CS&amp;T, 2017.  </a:t>
            </a:r>
            <a:r>
              <a:rPr sz="95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detection.  </a:t>
            </a:r>
            <a:r>
              <a:rPr sz="95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95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95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95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scintillation.  </a:t>
            </a:r>
            <a:r>
              <a:rPr sz="95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pic>
        <p:nvPicPr>
          <p:cNvPr id="17413" name="Picture 17412" descr="c6_logo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5840" y="5047488"/>
            <a:ext cx="4023360" cy="126536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355080" y="1444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1810512"/>
            <a:ext cx="548640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github.com/pranshukesavmishra/SIH-2026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(replay console):  </a:t>
            </a:r>
            <a:r>
              <a:rPr sz="1100" u="sng">
                <a:solidFill>
                  <a:srgbClr val="0E7C99"/>
                </a:solidFill>
                <a:latin typeface="Arial"/>
                <a:hlinkClick r:id="rId13"/>
              </a:rPr>
              <a:t>zerodrift-fsoc-pat.netlify.app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5,500+ documented lines · 250 passing tests · 6 validated scenarios · Monte-Carlo logs · technical report · user manual · demo video.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Reproducible: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every figure regenerates from one command; every random draw is logged and replayable.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355080" y="3218688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pic>
        <p:nvPicPr>
          <p:cNvPr id="17417" name="Picture 17416" descr="c6_tab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5080" y="3474720"/>
            <a:ext cx="4846320" cy="1696605"/>
          </a:xfrm>
          <a:prstGeom prst="rect">
            <a:avLst/>
          </a:prstGeom>
        </p:spPr>
      </p:pic>
      <p:sp>
        <p:nvSpPr>
          <p:cNvPr id="17418" name="Rounded Rectangle 17417"/>
          <p:cNvSpPr/>
          <p:nvPr/>
        </p:nvSpPr>
        <p:spPr>
          <a:xfrm>
            <a:off x="6355080" y="5248656"/>
            <a:ext cx="5486400" cy="106070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274320"/>
            <a:ext cx="7863840" cy="731520"/>
          </a:xfrm>
        </p:spPr>
        <p:txBody>
          <a:bodyPr anchor="ctr" wrap="square"/>
          <a:lstStyle/>
          <a:p>
            <a:r>
              <a:rPr sz="2400" b="1" i="0">
                <a:solidFill>
                  <a:srgbClr val="0B2545"/>
                </a:solidFill>
                <a:latin typeface="Arial"/>
              </a:rPr>
              <a:t>PS26169 compliance: their table, our values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66928" y="151790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676656" y="151790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>PS26169 PARAMETER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654296" y="151790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>SPECIFIED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174736" y="151790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>ZERODRIFT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1420855" y="151790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" y="181508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76656" y="181508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resolution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654296" y="181508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640 x 480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74736" y="181508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640 x 480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1420855" y="181508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76656" y="211226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FOV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654296" y="211226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4° x 3° default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174736" y="211226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4° x 3°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1420855" y="211226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566928" y="240944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76656" y="240944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update rate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654296" y="240944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≥ 30 Hz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174736" y="240944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30 Hz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1420855" y="240944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76656" y="270662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Max pan / tilt speed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654296" y="270662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5-10°/s, default 5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174736" y="270662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5°/s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1420855" y="270662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66928" y="300380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676656" y="300380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Target shape / size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654296" y="300380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square, 10 x 10 px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174736" y="300380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square, 10 x 10 px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1420855" y="300380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76656" y="330098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Motion patterns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654296" y="330098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≥ 4, incl. Figure-of-8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8174736" y="330098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7, incl. Figure-of-8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1420855" y="330098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566928" y="3598163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676656" y="3598163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Image noise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4654296" y="3598163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S&amp;P ~10%, Gaussian, Poisson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174736" y="3598163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all three, S&amp;P at 10%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11420855" y="3598163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6656" y="389534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jitter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4654296" y="389534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± 20 px / frame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174736" y="389534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19.8 px p99, measured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11420855" y="389534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566928" y="419252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676656" y="419252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Platform motion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4654296" y="419252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± 20 px / frame, linear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174736" y="419252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linear drift, 6 px / frame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1420855" y="419252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676656" y="448970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Atmospheric conditions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4654296" y="448970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Clear / Haze / Fog / Rain / Low light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8174736" y="448970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all five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11420855" y="448970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566928" y="478688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676656" y="478688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MP4 input, bypassing PTZ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4654296" y="478688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required (Benchmark-2)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8174736" y="478688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--video, working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11420855" y="478688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566928" y="508406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FC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66" name="TextBox 17465"/>
          <p:cNvSpPr txBox="1"/>
          <p:nvPr/>
        </p:nvSpPr>
        <p:spPr>
          <a:xfrm>
            <a:off x="676656" y="508406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Acquisition time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4654296" y="508406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≤ 2 s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8174736" y="508406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9C2E23"/>
                </a:solidFill>
                <a:latin typeface="Arial"/>
              </a:rPr>
              <a:t>25.3 s → 3.53 s  — open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1420855" y="508406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2E23"/>
                </a:solidFill>
                <a:latin typeface="Arial"/>
              </a:rPr>
              <a:t>✗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566928" y="538124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FC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71" name="TextBox 17470"/>
          <p:cNvSpPr txBox="1"/>
          <p:nvPr/>
        </p:nvSpPr>
        <p:spPr>
          <a:xfrm>
            <a:off x="676656" y="538124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Tracking error (median)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4654296" y="538124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≤ 10 px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8174736" y="538124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9C2E23"/>
                </a:solidFill>
                <a:latin typeface="Arial"/>
              </a:rPr>
              <a:t>2,367 → 170 px  — open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11420855" y="538124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2E23"/>
                </a:solidFill>
                <a:latin typeface="Arial"/>
              </a:rPr>
              <a:t>✗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566928" y="567842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FC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76" name="TextBox 17475"/>
          <p:cNvSpPr txBox="1"/>
          <p:nvPr/>
        </p:nvSpPr>
        <p:spPr>
          <a:xfrm>
            <a:off x="676656" y="567842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Processing speed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4654296" y="567842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≥ 20 FPS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174736" y="567842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9C2E23"/>
                </a:solidFill>
                <a:latin typeface="Arial"/>
              </a:rPr>
              <a:t>9.2 → 14.7 FPS  — open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11420855" y="567842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2E23"/>
                </a:solidFill>
                <a:latin typeface="Arial"/>
              </a:rPr>
              <a:t>✗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566928" y="6067044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81" name="TextBox 17480"/>
          <p:cNvSpPr txBox="1"/>
          <p:nvPr/>
        </p:nvSpPr>
        <p:spPr>
          <a:xfrm>
            <a:off x="713232" y="6085331"/>
            <a:ext cx="107716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0B2545"/>
                </a:solidFill>
                <a:latin typeface="Arial"/>
              </a:rPr>
              <a:t>The three open rows are open, not footnoted.  </a:t>
            </a:r>
            <a:r>
              <a:rPr sz="900" b="0" i="0">
                <a:solidFill>
                  <a:srgbClr val="0B2545"/>
                </a:solidFill>
                <a:latin typeface="Arial"/>
              </a:rPr>
              <a:t>Arrows are before → after our own fix, both measured with the full specified disturbance present. A constant-velocity platform drift is a ramp, and a PD loop has finite steady-state error to a ramp — wrong loop order, not bad tuning. Adding a second integrator (type 2, leaky) cut acquisition 7x and median error 14x. It is implemented and shipped; it is not yet enough.</a:t>
            </a:r>
          </a:p>
          <a:p>
            <a:pPr>
              <a:spcAft>
                <a:spcPts val="200"/>
              </a:spcAft>
            </a:pPr>
            <a:r>
              <a:rPr sz="900" b="1" i="0">
                <a:solidFill>
                  <a:srgbClr val="0B2545"/>
                </a:solidFill>
                <a:latin typeface="Arial"/>
              </a:rPr>
              <a:t>Every figure regenerates from  </a:t>
            </a:r>
            <a:r>
              <a:rPr sz="900" b="0" i="0">
                <a:solidFill>
                  <a:srgbClr val="0B2545"/>
                </a:solidFill>
                <a:latin typeface="Arial"/>
              </a:rPr>
              <a:t>scenarios/ps26169_benchmark.yaml, which encodes their table and nothing else.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