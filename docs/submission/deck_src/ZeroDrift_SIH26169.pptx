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8" r:id="rId14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8357687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jp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5.jpg"/><Relationship Id="rId5" Type="http://schemas.openxmlformats.org/officeDocument/2006/relationships/image" Target="../media/image6.jpg"/><Relationship Id="rId6" Type="http://schemas.openxmlformats.org/officeDocument/2006/relationships/image" Target="../media/image7.jpg"/><Relationship Id="rId7" Type="http://schemas.openxmlformats.org/officeDocument/2006/relationships/image" Target="../media/image8.jpg"/><Relationship Id="rId8" Type="http://schemas.openxmlformats.org/officeDocument/2006/relationships/image" Target="../media/image9.jpg"/><Relationship Id="rId9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1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12.jpg"/><Relationship Id="rId5" Type="http://schemas.openxmlformats.org/officeDocument/2006/relationships/image" Target="../media/image1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14.jpg"/><Relationship Id="rId5" Type="http://schemas.openxmlformats.org/officeDocument/2006/relationships/image" Target="../media/image15.jpg"/><Relationship Id="rId6" Type="http://schemas.openxmlformats.org/officeDocument/2006/relationships/image" Target="../media/image16.jpg"/><Relationship Id="rId7" Type="http://schemas.openxmlformats.org/officeDocument/2006/relationships/image" Target="../media/image17.jpg"/><Relationship Id="rId8" Type="http://schemas.openxmlformats.org/officeDocument/2006/relationships/image" Target="../media/image1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hyperlink" Target="https://scholar.google.com/scholar?q=%22A+Survey+on+Acquisition+Tracking+and+Pointing+Mechanisms+for+Mobile+Free-Space+Optical+Communications%22" TargetMode="External"/><Relationship Id="rId5" Type="http://schemas.openxmlformats.org/officeDocument/2006/relationships/hyperlink" Target="https://scholar.google.com/scholar?q=%22Optical+Communication+in+Space+Challenges+and+Mitigation+Techniques%22" TargetMode="External"/><Relationship Id="rId6" Type="http://schemas.openxmlformats.org/officeDocument/2006/relationships/hyperlink" Target="https://scholar.google.com/scholar?q=%22Design+and+Analysis+of+Modern+Tracking+Systems+Blackman+Popoli%22" TargetMode="External"/><Relationship Id="rId7" Type="http://schemas.openxmlformats.org/officeDocument/2006/relationships/hyperlink" Target="https://scholar.google.com/scholar?q=%22Estimation+with+Applications+to+Tracking+and+Navigation+Bar-Shalom%22" TargetMode="External"/><Relationship Id="rId8" Type="http://schemas.openxmlformats.org/officeDocument/2006/relationships/hyperlink" Target="https://scholar.google.com/scholar?q=%22Closer+Control+of+Loops+with+Dead+Time+Smith%22" TargetMode="External"/><Relationship Id="rId9" Type="http://schemas.openxmlformats.org/officeDocument/2006/relationships/hyperlink" Target="https://scholar.google.com/scholar?q=%22SGP4+Orbit+Determination+Vallado+Crawford%22" TargetMode="External"/><Relationship Id="rId10" Type="http://schemas.openxmlformats.org/officeDocument/2006/relationships/hyperlink" Target="https://scholar.google.com/scholar?q=%22Laser+Beam+Propagation+through+Random+Media+Andrews+Phillips%22" TargetMode="External"/><Relationship Id="rId11" Type="http://schemas.openxmlformats.org/officeDocument/2006/relationships/image" Target="../media/image19.jpg"/><Relationship Id="rId12" Type="http://schemas.openxmlformats.org/officeDocument/2006/relationships/hyperlink" Target="https://github.com/pranshukesavmishra/SIH-2026" TargetMode="External"/><Relationship Id="rId13" Type="http://schemas.openxmlformats.org/officeDocument/2006/relationships/hyperlink" Target="https://zerodrift-fsoc-pat.netlify.app/" TargetMode="External"/><Relationship Id="rId14" Type="http://schemas.openxmlformats.org/officeDocument/2006/relationships/image" Target="../media/image20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9326880" cy="2076450"/>
          </a:xfrm>
        </p:spPr>
        <p:txBody>
          <a:bodyPr/>
          <a:lstStyle/>
          <a:p>
            <a:r>
              <a:rPr lang="en-US" sz="34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34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 algn="just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400" b="1" i="0">
                <a:solidFill>
                  <a:srgbClr val="0B2545"/>
                </a:solidFill>
                <a:latin typeface="Arial"/>
              </a:rPr>
              <a:t>Problem Statement ID –</a:t>
            </a:r>
            <a:r>
              <a:rPr sz="1400" b="1" i="0">
                <a:solidFill>
                  <a:srgbClr val="0E7C99"/>
                </a:solidFill>
                <a:latin typeface="Arial"/>
              </a:rPr>
              <a:t>  26169</a:t>
            </a:r>
          </a:p>
          <a:p>
            <a:pPr marL="285750" indent="-285750" algn="just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400" b="1" i="0">
                <a:solidFill>
                  <a:srgbClr val="0B2545"/>
                </a:solidFill>
                <a:latin typeface="Arial"/>
              </a:rPr>
              <a:t>Problem Statement Title –</a:t>
            </a:r>
            <a:r>
              <a:rPr sz="1400" b="0" i="0">
                <a:solidFill>
                  <a:srgbClr val="0E7C99"/>
                </a:solidFill>
                <a:latin typeface="Arial"/>
              </a:rPr>
              <a:t>  AI-Based Virtual Camera Tracking System for Coarse Alignment of Mobile FSOC Terminals</a:t>
            </a:r>
          </a:p>
          <a:p>
            <a:pPr marL="285750" indent="-285750" algn="just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400" b="1" i="0">
                <a:solidFill>
                  <a:srgbClr val="0B2545"/>
                </a:solidFill>
                <a:latin typeface="Arial"/>
              </a:rPr>
              <a:t>Theme –</a:t>
            </a:r>
            <a:r>
              <a:rPr sz="1400" b="0" i="0">
                <a:solidFill>
                  <a:srgbClr val="0E7C99"/>
                </a:solidFill>
                <a:latin typeface="Arial"/>
              </a:rPr>
              <a:t>  Smart Automation</a:t>
            </a:r>
          </a:p>
          <a:p>
            <a:pPr marL="285750" indent="-285750" algn="just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400" b="1" i="0">
                <a:solidFill>
                  <a:srgbClr val="0B2545"/>
                </a:solidFill>
                <a:latin typeface="Arial"/>
              </a:rPr>
              <a:t>PS Category –</a:t>
            </a:r>
            <a:r>
              <a:rPr sz="1400" b="0" i="0">
                <a:solidFill>
                  <a:srgbClr val="0E7C99"/>
                </a:solidFill>
                <a:latin typeface="Arial"/>
              </a:rPr>
              <a:t>  Software</a:t>
            </a:r>
          </a:p>
          <a:p>
            <a:pPr marL="285750" indent="-285750" algn="just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400" b="1" i="0">
                <a:solidFill>
                  <a:srgbClr val="0B2545"/>
                </a:solidFill>
                <a:latin typeface="Arial"/>
              </a:rPr>
              <a:t>Team ID –</a:t>
            </a:r>
            <a:r>
              <a:rPr sz="1400" b="0" i="0">
                <a:solidFill>
                  <a:srgbClr val="0E7C99"/>
                </a:solidFill>
                <a:latin typeface="Arial"/>
              </a:rPr>
              <a:t>  —</a:t>
            </a:r>
          </a:p>
          <a:p>
            <a:pPr marL="285750" indent="-285750" algn="just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400" b="1" i="0">
                <a:solidFill>
                  <a:srgbClr val="0B2545"/>
                </a:solidFill>
                <a:latin typeface="Arial"/>
              </a:rPr>
              <a:t>Team Name –</a:t>
            </a:r>
            <a:r>
              <a:rPr sz="1400" b="1" i="0">
                <a:solidFill>
                  <a:srgbClr val="0E7C99"/>
                </a:solidFill>
                <a:latin typeface="Arial"/>
              </a:rPr>
              <a:t>  ZeroDrift</a:t>
            </a:r>
            <a:endParaRPr lang="en-I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38" name="Rounded Rectangle 37"/>
          <p:cNvSpPr/>
          <p:nvPr/>
        </p:nvSpPr>
        <p:spPr>
          <a:xfrm>
            <a:off x="329184" y="5138928"/>
            <a:ext cx="5349240" cy="1005840"/>
          </a:xfrm>
          <a:prstGeom prst="roundRect">
            <a:avLst>
              <a:gd name="adj" fmla="val 60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ctr"/>
            <a:r>
              <a:rPr sz="1150" b="1" i="0">
                <a:solidFill>
                  <a:srgbClr val="0B2545"/>
                </a:solidFill>
                <a:latin typeface="Arial"/>
              </a:rPr>
              <a:t>The problem in one line:  </a:t>
            </a:r>
            <a:r>
              <a:rPr sz="1150" b="0" i="0">
                <a:solidFill>
                  <a:srgbClr val="0B2545"/>
                </a:solidFill>
                <a:latin typeface="Arial"/>
              </a:rPr>
              <a:t>a mobile laser (FSOC) terminal must find, verify and continuously point at its partner's beacon with hair-thin accuracy — ISRO asks for this coarse-alignment brain, proven entirely in software.</a:t>
            </a:r>
          </a:p>
        </p:txBody>
      </p:sp>
      <p:pic>
        <p:nvPicPr>
          <p:cNvPr id="39" name="Picture 38" descr="c1_isro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9320" y="5779008"/>
            <a:ext cx="1511503" cy="868680"/>
          </a:xfrm>
          <a:prstGeom prst="rect">
            <a:avLst/>
          </a:prstGeom>
        </p:spPr>
      </p:pic>
      <p:pic>
        <p:nvPicPr>
          <p:cNvPr id="40" name="Picture 39" descr="logo_bann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35240" y="5742432"/>
            <a:ext cx="2187208" cy="93268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/>
            </a:r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IDEA TITLE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1755648" y="1170432"/>
            <a:ext cx="10058400" cy="5486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>
              <a:spcAft>
                <a:spcPts val="0"/>
              </a:spcAft>
              <a:buFont typeface="Wingdings" panose="05000000000000000000" pitchFamily="2" charset="2"/>
              <a:buChar char="v"/>
            </a:pPr>
            <a:r>
              <a:rPr sz="900" b="0" i="1">
                <a:solidFill>
                  <a:srgbClr val="5A6472"/>
                </a:solidFill>
                <a:latin typeface="Arial"/>
              </a:rPr>
              <a:t>Proposed Solution (Describe your Idea/Solution/Prototype)</a:t>
            </a: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 marL="342900" indent="-342900" algn="just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sz="900" b="0" i="1">
                <a:solidFill>
                  <a:srgbClr val="5A6472"/>
                </a:solidFill>
                <a:latin typeface="Arial"/>
              </a:rPr>
              <a:t>Detailed explanation of the proposed solution</a:t>
            </a:r>
          </a:p>
          <a:p>
            <a:pPr marL="342900" indent="-342900" algn="just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sz="900" b="0" i="1">
                <a:solidFill>
                  <a:srgbClr val="5A6472"/>
                </a:solidFill>
                <a:latin typeface="Arial"/>
              </a:rPr>
              <a:t>How it addresses the problem</a:t>
            </a:r>
          </a:p>
          <a:p>
            <a:pPr marL="342900" indent="-342900" algn="just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sz="900" b="0" i="1">
                <a:solidFill>
                  <a:srgbClr val="5A6472"/>
                </a:solidFill>
                <a:latin typeface="Arial"/>
              </a:rPr>
              <a:t>Innovation and uniqueness of the solution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Team ZeroDrift · SIH 2026 · PS 26169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rgbClr val="0B2545"/>
          </a:solidFill>
          <a:ln w="15875">
            <a:solidFill>
              <a:srgbClr val="0E7C99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ZeroDrift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3" name="TextBox 15362"/>
          <p:cNvSpPr txBox="1"/>
          <p:nvPr/>
        </p:nvSpPr>
        <p:spPr>
          <a:xfrm>
            <a:off x="274320" y="1773936"/>
            <a:ext cx="617220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9C2E23"/>
                </a:solidFill>
                <a:latin typeface="Arial"/>
              </a:rPr>
              <a:t>Problem in one line:  </a:t>
            </a:r>
            <a:r>
              <a:rPr sz="1100" b="0" i="0">
                <a:solidFill>
                  <a:srgbClr val="0B2545"/>
                </a:solidFill>
                <a:latin typeface="Arial"/>
              </a:rPr>
              <a:t>find the partner's blinking beacon among stars and glints, verify it, and hold it centred to micro-radian accuracy — automatically, in software.</a:t>
            </a:r>
          </a:p>
        </p:txBody>
      </p:sp>
      <p:sp>
        <p:nvSpPr>
          <p:cNvPr id="15364" name="TextBox 15363"/>
          <p:cNvSpPr txBox="1"/>
          <p:nvPr/>
        </p:nvSpPr>
        <p:spPr>
          <a:xfrm>
            <a:off x="274320" y="2231136"/>
            <a:ext cx="617220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0E7C99"/>
                </a:solidFill>
                <a:latin typeface="Arial"/>
              </a:rPr>
              <a:t>Our answer — the eyes &amp; neck of a laser terminal:  </a:t>
            </a:r>
            <a:r>
              <a:rPr sz="1150" b="0" i="0">
                <a:solidFill>
                  <a:srgbClr val="0B2545"/>
                </a:solidFill>
                <a:latin typeface="Arial"/>
              </a:rPr>
              <a:t>simulate the sky · verify the beacon · track &amp; predict.  Built, measured, live.</a:t>
            </a:r>
          </a:p>
        </p:txBody>
      </p:sp>
      <p:pic>
        <p:nvPicPr>
          <p:cNvPr id="15365" name="Picture 15364" descr="c2_card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2608" y="2688336"/>
            <a:ext cx="5760720" cy="2887437"/>
          </a:xfrm>
          <a:prstGeom prst="rect">
            <a:avLst/>
          </a:prstGeom>
        </p:spPr>
      </p:pic>
      <p:pic>
        <p:nvPicPr>
          <p:cNvPr id="15366" name="Picture 15365" descr="c2_chip1p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2608" y="5632704"/>
            <a:ext cx="1874519" cy="736990"/>
          </a:xfrm>
          <a:prstGeom prst="rect">
            <a:avLst/>
          </a:prstGeom>
        </p:spPr>
      </p:pic>
      <p:pic>
        <p:nvPicPr>
          <p:cNvPr id="15367" name="Picture 15366" descr="c2_chip2p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95144" y="5632704"/>
            <a:ext cx="1874519" cy="756385"/>
          </a:xfrm>
          <a:prstGeom prst="rect">
            <a:avLst/>
          </a:prstGeom>
        </p:spPr>
      </p:pic>
      <p:pic>
        <p:nvPicPr>
          <p:cNvPr id="15368" name="Picture 15367" descr="c2_chip3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97680" y="5632704"/>
            <a:ext cx="1874519" cy="763079"/>
          </a:xfrm>
          <a:prstGeom prst="rect">
            <a:avLst/>
          </a:prstGeom>
        </p:spPr>
      </p:pic>
      <p:pic>
        <p:nvPicPr>
          <p:cNvPr id="15369" name="Picture 15368" descr="c2_shot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84848" y="1847088"/>
            <a:ext cx="4475747" cy="2743200"/>
          </a:xfrm>
          <a:prstGeom prst="rect">
            <a:avLst/>
          </a:prstGeom>
          <a:ln w="9525">
            <a:solidFill>
              <a:srgbClr val="5A6472"/>
            </a:solidFill>
          </a:ln>
        </p:spPr>
      </p:pic>
      <p:sp>
        <p:nvSpPr>
          <p:cNvPr id="15370" name="TextBox 15369"/>
          <p:cNvSpPr txBox="1"/>
          <p:nvPr/>
        </p:nvSpPr>
        <p:spPr>
          <a:xfrm>
            <a:off x="6446520" y="4645152"/>
            <a:ext cx="5394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5A6472"/>
                </a:solidFill>
                <a:latin typeface="Arial"/>
              </a:rPr>
              <a:t>Our console locked on the beacon — the exact view the live demo link opens</a:t>
            </a:r>
          </a:p>
        </p:txBody>
      </p:sp>
      <p:sp>
        <p:nvSpPr>
          <p:cNvPr id="15371" name="TextBox 15370"/>
          <p:cNvSpPr txBox="1"/>
          <p:nvPr/>
        </p:nvSpPr>
        <p:spPr>
          <a:xfrm>
            <a:off x="6446520" y="4901184"/>
            <a:ext cx="5394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0B2545"/>
                </a:solidFill>
                <a:latin typeface="Arial"/>
              </a:rPr>
              <a:t>Measured: </a:t>
            </a:r>
            <a:r>
              <a:rPr sz="1100" b="1" i="0">
                <a:solidFill>
                  <a:srgbClr val="0E7C99"/>
                </a:solidFill>
                <a:latin typeface="Arial"/>
              </a:rPr>
              <a:t>median 198 µrad</a:t>
            </a:r>
            <a:r>
              <a:rPr sz="1100" b="0" i="0">
                <a:solidFill>
                  <a:srgbClr val="0B2545"/>
                </a:solidFill>
                <a:latin typeface="Arial"/>
              </a:rPr>
              <a:t> in lock · in-FOV </a:t>
            </a:r>
            <a:r>
              <a:rPr sz="1100" b="1" i="0">
                <a:solidFill>
                  <a:srgbClr val="1F8A5B"/>
                </a:solidFill>
                <a:latin typeface="Arial"/>
              </a:rPr>
              <a:t>100%</a:t>
            </a:r>
            <a:r>
              <a:rPr sz="1100" b="0" i="0">
                <a:solidFill>
                  <a:srgbClr val="0B2545"/>
                </a:solidFill>
                <a:latin typeface="Arial"/>
              </a:rPr>
              <a:t> · the live-demo run</a:t>
            </a:r>
          </a:p>
        </p:txBody>
      </p:sp>
      <p:pic>
        <p:nvPicPr>
          <p:cNvPr id="15372" name="Picture 15371" descr="chart_convergenc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46520" y="5157216"/>
            <a:ext cx="5394960" cy="1186891"/>
          </a:xfrm>
          <a:prstGeom prst="rect">
            <a:avLst/>
          </a:prstGeom>
          <a:ln w="9525">
            <a:solidFill>
              <a:srgbClr val="D5DDE5"/>
            </a:solidFill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1755648" y="1170432"/>
            <a:ext cx="10058400" cy="2377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 algn="just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sz="900" b="0" i="1">
                <a:solidFill>
                  <a:srgbClr val="5A6472"/>
                </a:solidFill>
                <a:latin typeface="Arial"/>
              </a:rPr>
              <a:t>Technologies to be used (e.g. programming languages, frameworks, hardware)</a:t>
            </a:r>
          </a:p>
          <a:p>
            <a:pPr marL="342900" indent="-342900" algn="just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sz="900" b="0" i="1">
                <a:solidFill>
                  <a:srgbClr val="5A6472"/>
                </a:solidFill>
                <a:latin typeface="Arial"/>
              </a:rPr>
              <a:t>Methodology and process for implementation (Flow Charts/Images/ working prototype)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Team ZeroDrift · SIH 2026 · PS 26169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rgbClr val="0B2545"/>
          </a:solidFill>
          <a:ln w="15875">
            <a:solidFill>
              <a:srgbClr val="0E7C99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ZeroDrift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1" name="Picture 17410" descr="c3_all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" y="1572768"/>
            <a:ext cx="10003536" cy="472583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1755648" y="1170432"/>
            <a:ext cx="10058400" cy="2377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sz="900" b="0" i="1">
                <a:solidFill>
                  <a:srgbClr val="5A6472"/>
                </a:solidFill>
                <a:latin typeface="Arial"/>
              </a:rPr>
              <a:t>Analysis of the feasibility of the idea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sz="900" b="0" i="1">
                <a:solidFill>
                  <a:srgbClr val="5A6472"/>
                </a:solidFill>
                <a:latin typeface="Arial"/>
              </a:rPr>
              <a:t>Potential challenges and risks</a:t>
            </a: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sz="900" b="0" i="1">
                <a:solidFill>
                  <a:srgbClr val="5A6472"/>
                </a:solidFill>
                <a:latin typeface="Arial"/>
              </a:rPr>
              <a:t>Strategies for overcoming these challenges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Team ZeroDrift · SIH 2026 · PS 26169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rgbClr val="0B2545"/>
          </a:solidFill>
          <a:ln w="15875">
            <a:solidFill>
              <a:srgbClr val="0E7C99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ZeroDrift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1" name="Picture 17410" descr="c4_col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1481328"/>
            <a:ext cx="10259568" cy="3952457"/>
          </a:xfrm>
          <a:prstGeom prst="rect">
            <a:avLst/>
          </a:prstGeom>
        </p:spPr>
      </p:pic>
      <p:pic>
        <p:nvPicPr>
          <p:cNvPr id="17412" name="Picture 17411" descr="c4_strip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27248" y="5486400"/>
            <a:ext cx="5943600" cy="850873"/>
          </a:xfrm>
          <a:prstGeom prst="rect">
            <a:avLst/>
          </a:prstGeom>
        </p:spPr>
      </p:pic>
      <p:sp>
        <p:nvSpPr>
          <p:cNvPr id="17413" name="TextBox 17412"/>
          <p:cNvSpPr txBox="1"/>
          <p:nvPr/>
        </p:nvSpPr>
        <p:spPr>
          <a:xfrm>
            <a:off x="320040" y="5541264"/>
            <a:ext cx="26974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050" b="1" i="0">
                <a:solidFill>
                  <a:srgbClr val="0B2545"/>
                </a:solidFill>
                <a:latin typeface="Arial"/>
              </a:rPr>
              <a:t>64 runs, our LEO scenarios →  </a:t>
            </a:r>
            <a:r>
              <a:rPr sz="1050" b="0" i="0">
                <a:solidFill>
                  <a:srgbClr val="0B2545"/>
                </a:solidFill>
                <a:latin typeface="Arial"/>
              </a:rPr>
              <a:t>never a wrong lock, never a failed acquisition.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9189720" y="5541264"/>
            <a:ext cx="26974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050" b="1" i="0">
                <a:solidFill>
                  <a:srgbClr val="0B2545"/>
                </a:solidFill>
                <a:latin typeface="Arial"/>
              </a:rPr>
              <a:t>Reproducible:  </a:t>
            </a:r>
            <a:r>
              <a:rPr sz="1050" b="0" i="0">
                <a:solidFill>
                  <a:srgbClr val="0B2545"/>
                </a:solidFill>
                <a:latin typeface="Arial"/>
              </a:rPr>
              <a:t>every number regenerates from one command.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1755648" y="1170432"/>
            <a:ext cx="10058400" cy="2377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sz="900" b="0" i="1">
                <a:solidFill>
                  <a:srgbClr val="5A6472"/>
                </a:solidFill>
                <a:latin typeface="Arial"/>
              </a:rPr>
              <a:t>Potential impact on the target audience</a:t>
            </a: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sz="900" b="0" i="1">
                <a:solidFill>
                  <a:srgbClr val="5A6472"/>
                </a:solidFill>
                <a:latin typeface="Arial"/>
              </a:rPr>
              <a:t>Benefits of the solution (social, economic, environmental, etc.)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Team ZeroDrift · SIH 2026 · PS 26169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rgbClr val="0B2545"/>
          </a:solidFill>
          <a:ln w="15875">
            <a:solidFill>
              <a:srgbClr val="0E7C99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ZeroDrift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TextBox 17410"/>
          <p:cNvSpPr txBox="1"/>
          <p:nvPr/>
        </p:nvSpPr>
        <p:spPr>
          <a:xfrm>
            <a:off x="274320" y="1499616"/>
            <a:ext cx="3886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50" b="1" i="0">
                <a:solidFill>
                  <a:srgbClr val="1F8A5B"/>
                </a:solidFill>
                <a:latin typeface="Arial"/>
              </a:rPr>
              <a:t>ECONOMIC FEASIBILITY</a:t>
            </a:r>
            <a:r>
              <a:rPr sz="1050" b="0" i="0">
                <a:solidFill>
                  <a:srgbClr val="5A6472"/>
                </a:solidFill>
                <a:latin typeface="Arial"/>
              </a:rPr>
              <a:t>  — the arithmetic that removes the cost barrier</a:t>
            </a:r>
          </a:p>
        </p:txBody>
      </p:sp>
      <p:pic>
        <p:nvPicPr>
          <p:cNvPr id="17412" name="Picture 17411" descr="c_econ_capital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1883664"/>
            <a:ext cx="3712463" cy="1933869"/>
          </a:xfrm>
          <a:prstGeom prst="rect">
            <a:avLst/>
          </a:prstGeom>
          <a:ln w="9525">
            <a:solidFill>
              <a:srgbClr val="D5DDE5"/>
            </a:solidFill>
          </a:ln>
        </p:spPr>
      </p:pic>
      <p:pic>
        <p:nvPicPr>
          <p:cNvPr id="17413" name="Picture 17412" descr="c_econ_stats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" y="3895344"/>
            <a:ext cx="3712463" cy="1188335"/>
          </a:xfrm>
          <a:prstGeom prst="rect">
            <a:avLst/>
          </a:prstGeom>
          <a:ln w="9525">
            <a:solidFill>
              <a:srgbClr val="D5DDE5"/>
            </a:solidFill>
          </a:ln>
        </p:spPr>
      </p:pic>
      <p:pic>
        <p:nvPicPr>
          <p:cNvPr id="17414" name="Picture 17413" descr="c5_cards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61104" y="1481328"/>
            <a:ext cx="7498079" cy="3622300"/>
          </a:xfrm>
          <a:prstGeom prst="rect">
            <a:avLst/>
          </a:prstGeom>
        </p:spPr>
      </p:pic>
      <p:pic>
        <p:nvPicPr>
          <p:cNvPr id="17415" name="Picture 17414" descr="c5_audienc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0040" y="5175504"/>
            <a:ext cx="5230368" cy="1147011"/>
          </a:xfrm>
          <a:prstGeom prst="rect">
            <a:avLst/>
          </a:prstGeom>
        </p:spPr>
      </p:pic>
      <p:pic>
        <p:nvPicPr>
          <p:cNvPr id="17416" name="Picture 17415" descr="c5_linkbox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83680" y="5175504"/>
            <a:ext cx="5257800" cy="11494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1755648" y="1170432"/>
            <a:ext cx="10058400" cy="20116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sz="900" b="0" i="1">
                <a:solidFill>
                  <a:srgbClr val="5A6472"/>
                </a:solidFill>
                <a:latin typeface="Arial"/>
              </a:rPr>
              <a:t>Details / Links of the reference and research work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Team ZeroDrift · SIH 2026 · PS 26169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rgbClr val="0B2545"/>
          </a:solidFill>
          <a:ln w="15875">
            <a:solidFill>
              <a:srgbClr val="0E7C99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ZeroDrift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TextBox 17410"/>
          <p:cNvSpPr txBox="1"/>
          <p:nvPr/>
        </p:nvSpPr>
        <p:spPr>
          <a:xfrm>
            <a:off x="384048" y="1444752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0B2545"/>
                </a:solidFill>
                <a:latin typeface="Arial"/>
              </a:rPr>
              <a:t>Research foundations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384048" y="1810512"/>
            <a:ext cx="562356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00" b="1" i="0">
                <a:solidFill>
                  <a:srgbClr val="0B2545"/>
                </a:solidFill>
                <a:latin typeface="Arial"/>
              </a:rPr>
              <a:t>Kaymak et al.,  </a:t>
            </a:r>
            <a:r>
              <a:rPr sz="1000" b="0" i="0">
                <a:solidFill>
                  <a:srgbClr val="0B2545"/>
                </a:solidFill>
                <a:latin typeface="Arial"/>
              </a:rPr>
              <a:t>“A Survey on Acquisition, Tracking and Pointing Mechanisms for Mobile FSO,” IEEE Comm. Surveys &amp; Tutorials, 2018.  </a:t>
            </a:r>
            <a:r>
              <a:rPr sz="950" u="sng">
                <a:solidFill>
                  <a:srgbClr val="0E7C99"/>
                </a:solidFill>
                <a:latin typeface="Arial"/>
                <a:hlinkClick r:id="rId4"/>
              </a:rPr>
              <a:t>[link]</a:t>
            </a:r>
          </a:p>
          <a:p>
            <a:pPr>
              <a:spcAft>
                <a:spcPts val="400"/>
              </a:spcAft>
            </a:pPr>
            <a:r>
              <a:rPr sz="1000" b="1" i="0">
                <a:solidFill>
                  <a:srgbClr val="0B2545"/>
                </a:solidFill>
                <a:latin typeface="Arial"/>
              </a:rPr>
              <a:t>Kaushal &amp; Kaddoum,  </a:t>
            </a:r>
            <a:r>
              <a:rPr sz="1000" b="0" i="0">
                <a:solidFill>
                  <a:srgbClr val="0B2545"/>
                </a:solidFill>
                <a:latin typeface="Arial"/>
              </a:rPr>
              <a:t>“Optical Communication in Space: Challenges and Mitigation Techniques,” IEEE CS&amp;T, 2017.  </a:t>
            </a:r>
            <a:r>
              <a:rPr sz="950" u="sng">
                <a:solidFill>
                  <a:srgbClr val="0E7C99"/>
                </a:solidFill>
                <a:latin typeface="Arial"/>
                <a:hlinkClick r:id="rId5"/>
              </a:rPr>
              <a:t>[link]</a:t>
            </a:r>
          </a:p>
          <a:p>
            <a:pPr>
              <a:spcAft>
                <a:spcPts val="400"/>
              </a:spcAft>
            </a:pPr>
            <a:r>
              <a:rPr sz="1000" b="1" i="0">
                <a:solidFill>
                  <a:srgbClr val="0B2545"/>
                </a:solidFill>
                <a:latin typeface="Arial"/>
              </a:rPr>
              <a:t>Blackman &amp; Popoli,  </a:t>
            </a:r>
            <a:r>
              <a:rPr sz="1000" b="0" i="0">
                <a:solidFill>
                  <a:srgbClr val="0B2545"/>
                </a:solidFill>
                <a:latin typeface="Arial"/>
              </a:rPr>
              <a:t>Design and Analysis of Modern Tracking Systems — IMM filtering, CFAR detection.  </a:t>
            </a:r>
            <a:r>
              <a:rPr sz="950" u="sng">
                <a:solidFill>
                  <a:srgbClr val="0E7C99"/>
                </a:solidFill>
                <a:latin typeface="Arial"/>
                <a:hlinkClick r:id="rId6"/>
              </a:rPr>
              <a:t>[link]</a:t>
            </a:r>
          </a:p>
          <a:p>
            <a:pPr>
              <a:spcAft>
                <a:spcPts val="400"/>
              </a:spcAft>
            </a:pPr>
            <a:r>
              <a:rPr sz="1000" b="1" i="0">
                <a:solidFill>
                  <a:srgbClr val="0B2545"/>
                </a:solidFill>
                <a:latin typeface="Arial"/>
              </a:rPr>
              <a:t>Bar-Shalom et al.,  </a:t>
            </a:r>
            <a:r>
              <a:rPr sz="1000" b="0" i="0">
                <a:solidFill>
                  <a:srgbClr val="0B2545"/>
                </a:solidFill>
                <a:latin typeface="Arial"/>
              </a:rPr>
              <a:t>Estimation with Applications to Tracking and Navigation — Kalman/IMM theory.  </a:t>
            </a:r>
            <a:r>
              <a:rPr sz="950" u="sng">
                <a:solidFill>
                  <a:srgbClr val="0E7C99"/>
                </a:solidFill>
                <a:latin typeface="Arial"/>
                <a:hlinkClick r:id="rId7"/>
              </a:rPr>
              <a:t>[link]</a:t>
            </a:r>
          </a:p>
          <a:p>
            <a:pPr>
              <a:spcAft>
                <a:spcPts val="400"/>
              </a:spcAft>
            </a:pPr>
            <a:r>
              <a:rPr sz="1000" b="1" i="0">
                <a:solidFill>
                  <a:srgbClr val="0B2545"/>
                </a:solidFill>
                <a:latin typeface="Arial"/>
              </a:rPr>
              <a:t>Smith, O.J.M.,  </a:t>
            </a:r>
            <a:r>
              <a:rPr sz="1000" b="0" i="0">
                <a:solidFill>
                  <a:srgbClr val="0B2545"/>
                </a:solidFill>
                <a:latin typeface="Arial"/>
              </a:rPr>
              <a:t>“Closer Control of Loops with Dead Time” — the Smith predictor, 1957.  </a:t>
            </a:r>
            <a:r>
              <a:rPr sz="950" u="sng">
                <a:solidFill>
                  <a:srgbClr val="0E7C99"/>
                </a:solidFill>
                <a:latin typeface="Arial"/>
                <a:hlinkClick r:id="rId8"/>
              </a:rPr>
              <a:t>[link]</a:t>
            </a:r>
          </a:p>
          <a:p>
            <a:pPr>
              <a:spcAft>
                <a:spcPts val="400"/>
              </a:spcAft>
            </a:pPr>
            <a:r>
              <a:rPr sz="1000" b="1" i="0">
                <a:solidFill>
                  <a:srgbClr val="0B2545"/>
                </a:solidFill>
                <a:latin typeface="Arial"/>
              </a:rPr>
              <a:t>Vallado &amp; Crawford,  </a:t>
            </a:r>
            <a:r>
              <a:rPr sz="1000" b="0" i="0">
                <a:solidFill>
                  <a:srgbClr val="0B2545"/>
                </a:solidFill>
                <a:latin typeface="Arial"/>
              </a:rPr>
              <a:t>“SGP4 Orbit Determination” — AIAA 2008; real ISS TLE propagation.  </a:t>
            </a:r>
            <a:r>
              <a:rPr sz="950" u="sng">
                <a:solidFill>
                  <a:srgbClr val="0E7C99"/>
                </a:solidFill>
                <a:latin typeface="Arial"/>
                <a:hlinkClick r:id="rId9"/>
              </a:rPr>
              <a:t>[link]</a:t>
            </a:r>
          </a:p>
          <a:p>
            <a:pPr>
              <a:spcAft>
                <a:spcPts val="400"/>
              </a:spcAft>
            </a:pPr>
            <a:r>
              <a:rPr sz="1000" b="1" i="0">
                <a:solidFill>
                  <a:srgbClr val="0B2545"/>
                </a:solidFill>
                <a:latin typeface="Arial"/>
              </a:rPr>
              <a:t>Andrews &amp; Phillips,  </a:t>
            </a:r>
            <a:r>
              <a:rPr sz="1000" b="0" i="0">
                <a:solidFill>
                  <a:srgbClr val="0B2545"/>
                </a:solidFill>
                <a:latin typeface="Arial"/>
              </a:rPr>
              <a:t>Laser Beam Propagation through Random Media — turbulence &amp; scintillation.  </a:t>
            </a:r>
            <a:r>
              <a:rPr sz="950" u="sng">
                <a:solidFill>
                  <a:srgbClr val="0E7C99"/>
                </a:solidFill>
                <a:latin typeface="Arial"/>
                <a:hlinkClick r:id="rId10"/>
              </a:rPr>
              <a:t>[link]</a:t>
            </a:r>
          </a:p>
        </p:txBody>
      </p:sp>
      <p:pic>
        <p:nvPicPr>
          <p:cNvPr id="17413" name="Picture 17412" descr="c6_logos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05840" y="5047488"/>
            <a:ext cx="4023360" cy="1265362"/>
          </a:xfrm>
          <a:prstGeom prst="rect">
            <a:avLst/>
          </a:prstGeom>
        </p:spPr>
      </p:pic>
      <p:sp>
        <p:nvSpPr>
          <p:cNvPr id="17414" name="TextBox 17413"/>
          <p:cNvSpPr txBox="1"/>
          <p:nvPr/>
        </p:nvSpPr>
        <p:spPr>
          <a:xfrm>
            <a:off x="6355080" y="1444752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0B2545"/>
                </a:solidFill>
                <a:latin typeface="Arial"/>
              </a:rPr>
              <a:t>Our work — open and verifiable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6355080" y="1810512"/>
            <a:ext cx="5486400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Repository:  </a:t>
            </a:r>
            <a:r>
              <a:rPr sz="1100" u="sng">
                <a:solidFill>
                  <a:srgbClr val="0E7C99"/>
                </a:solidFill>
                <a:latin typeface="Arial"/>
                <a:hlinkClick r:id="rId12"/>
              </a:rPr>
              <a:t>github.com/pranshukesavmishra/SIH-2026</a:t>
            </a:r>
          </a:p>
          <a:p>
            <a:pPr>
              <a:spcAft>
                <a:spcPts val="4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Live demo (replay console):  </a:t>
            </a:r>
            <a:r>
              <a:rPr sz="1100" u="sng">
                <a:solidFill>
                  <a:srgbClr val="0E7C99"/>
                </a:solidFill>
                <a:latin typeface="Arial"/>
                <a:hlinkClick r:id="rId13"/>
              </a:rPr>
              <a:t>zerodrift-fsoc-pat.netlify.app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0B2545"/>
                </a:solidFill>
                <a:latin typeface="Arial"/>
              </a:rPr>
              <a:t>Inside:  </a:t>
            </a:r>
            <a:r>
              <a:rPr sz="1050" b="0" i="0">
                <a:solidFill>
                  <a:srgbClr val="0B2545"/>
                </a:solidFill>
                <a:latin typeface="Arial"/>
              </a:rPr>
              <a:t>5,500+ documented lines · 83 automated tests · 6 validated scenarios · Monte-Carlo logs · technical report · user manual · demo video.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0B2545"/>
                </a:solidFill>
                <a:latin typeface="Arial"/>
              </a:rPr>
              <a:t>Reproducible:  </a:t>
            </a:r>
            <a:r>
              <a:rPr sz="1050" b="0" i="0">
                <a:solidFill>
                  <a:srgbClr val="0B2545"/>
                </a:solidFill>
                <a:latin typeface="Arial"/>
              </a:rPr>
              <a:t>every figure regenerates from one command; every random draw is logged and replayable.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6355080" y="3218688"/>
            <a:ext cx="5029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 i="0">
                <a:solidFill>
                  <a:srgbClr val="0B2545"/>
                </a:solidFill>
                <a:latin typeface="Arial"/>
              </a:rPr>
              <a:t>Compared with existing approaches</a:t>
            </a:r>
          </a:p>
        </p:txBody>
      </p:sp>
      <p:pic>
        <p:nvPicPr>
          <p:cNvPr id="17417" name="Picture 17416" descr="c6_table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355080" y="3474720"/>
            <a:ext cx="4846320" cy="1696605"/>
          </a:xfrm>
          <a:prstGeom prst="rect">
            <a:avLst/>
          </a:prstGeom>
        </p:spPr>
      </p:pic>
      <p:sp>
        <p:nvSpPr>
          <p:cNvPr id="17418" name="Rounded Rectangle 17417"/>
          <p:cNvSpPr/>
          <p:nvPr/>
        </p:nvSpPr>
        <p:spPr>
          <a:xfrm>
            <a:off x="6355080" y="5248656"/>
            <a:ext cx="5486400" cy="1060704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Why ZeroDrift wins on this problem</a:t>
            </a:r>
          </a:p>
          <a:p>
            <a:pPr>
              <a:spcBef>
                <a:spcPts val="200"/>
              </a:spcBef>
            </a:pPr>
            <a:r>
              <a:rPr sz="1050" b="1" i="0">
                <a:solidFill>
                  <a:srgbClr val="7FD4A8"/>
                </a:solidFill>
                <a:latin typeface="Arial"/>
              </a:rPr>
              <a:t>✓  </a:t>
            </a:r>
            <a:r>
              <a:rPr sz="1050" b="0" i="0">
                <a:solidFill>
                  <a:srgbClr val="FFFFFF"/>
                </a:solidFill>
                <a:latin typeface="Arial"/>
              </a:rPr>
              <a:t>All six mandatory deliverables already exist today</a:t>
            </a:r>
          </a:p>
          <a:p>
            <a:pPr>
              <a:spcBef>
                <a:spcPts val="200"/>
              </a:spcBef>
            </a:pPr>
            <a:r>
              <a:rPr sz="1050" b="1" i="0">
                <a:solidFill>
                  <a:srgbClr val="7FD4A8"/>
                </a:solidFill>
                <a:latin typeface="Arial"/>
              </a:rPr>
              <a:t>✓  </a:t>
            </a:r>
            <a:r>
              <a:rPr sz="1050" b="0" i="0">
                <a:solidFill>
                  <a:srgbClr val="FFFFFF"/>
                </a:solidFill>
                <a:latin typeface="Arial"/>
              </a:rPr>
              <a:t>Judged numbers, honestly measured against hidden ground truth</a:t>
            </a:r>
          </a:p>
          <a:p>
            <a:pPr>
              <a:spcBef>
                <a:spcPts val="200"/>
              </a:spcBef>
            </a:pPr>
            <a:r>
              <a:rPr sz="1050" b="1" i="0">
                <a:solidFill>
                  <a:srgbClr val="7FD4A8"/>
                </a:solidFill>
                <a:latin typeface="Arial"/>
              </a:rPr>
              <a:t>✓  </a:t>
            </a:r>
            <a:r>
              <a:rPr sz="1050" b="0" i="0">
                <a:solidFill>
                  <a:srgbClr val="FFFFFF"/>
                </a:solidFill>
                <a:latin typeface="Arial"/>
              </a:rPr>
              <a:t>AI where it earns its place — benchmarked against classical methods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3" name="Round Diagonal Corner Rectangle 2"/>
          <p:cNvSpPr/>
          <p:nvPr/>
        </p:nvSpPr>
        <p:spPr>
          <a:xfrm>
            <a:off x="0" y="1791032"/>
            <a:ext cx="12192000" cy="4319200"/>
          </a:xfrm>
          <a:prstGeom prst="round2DiagRect">
            <a:avLst/>
          </a:prstGeom>
          <a:solidFill>
            <a:schemeClr val="accent1">
              <a:lumMod val="20000"/>
              <a:lumOff val="80000"/>
            </a:schemeClr>
          </a:solidFill>
          <a:ln w="381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Google Shape;100;p3"/>
          <p:cNvSpPr txBox="1"/>
          <p:nvPr/>
        </p:nvSpPr>
        <p:spPr>
          <a:xfrm>
            <a:off x="367832" y="1915454"/>
            <a:ext cx="11764736" cy="40703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514350" marR="0" lvl="0" indent="-514350" algn="just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Kindly keep the maximum slides limit up to six </a:t>
            </a: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(6). 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 Including the </a:t>
            </a:r>
            <a:r>
              <a:rPr lang="en-US" b="1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title slide)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Try to avoid paragraphs and post your idea in points /diagrams / Infographics /pictures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Keep your explanation precise and easy to understand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Idea should be unique and novel.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can only use provided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template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for making the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PPT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without changing the idea details pointers (mentioned in previous slides).</a:t>
            </a: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need to save the file in PDF and upload the same on portal. No PPT, Word Doc or any other format will be supported.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349885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0" marR="0" lvl="0" indent="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Note - You can delete this slide (Important Pointers) when you upload the details of your idea on SIH portal.</a:t>
            </a:r>
            <a:endParaRPr b="1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914400" marR="0" lvl="1" indent="-316230" algn="just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sz="2000"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393371" y="107066"/>
            <a:ext cx="84105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IMPORTANT INSTRUCTIONS</a:t>
            </a:r>
            <a:endParaRPr lang="en-IN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02343" y="1181900"/>
            <a:ext cx="9557657" cy="3416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</a:pP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Please ensure below pointers are met while submitting the Idea PPT:</a:t>
            </a:r>
            <a:endParaRPr lang="en-IN" b="1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</a:endParaRP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084416"/>
      </p:ext>
    </p:extLst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 i="0">
                <a:solidFill>
                  <a:srgbClr val="0B2545"/>
                </a:solidFill>
                <a:latin typeface="Arial"/>
              </a:rPr>
              <a:t>Compliance with PS26169 — their table, our values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Team ZeroDrift · SIH 2026 · PS 26169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rgbClr val="0B2545"/>
          </a:solidFill>
          <a:ln w="15875">
            <a:solidFill>
              <a:srgbClr val="0E7C99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ZeroDrift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1" name="Picture 17410" descr="c3_all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" y="1572768"/>
            <a:ext cx="10003536" cy="4725835"/>
          </a:xfrm>
          <a:prstGeom prst="rect">
            <a:avLst/>
          </a:prstGeom>
        </p:spPr>
      </p:pic>
      <p:sp>
        <p:nvSpPr>
          <p:cNvPr id="17412" name="Rounded Rectangle 17411"/>
          <p:cNvSpPr/>
          <p:nvPr/>
        </p:nvSpPr>
        <p:spPr>
          <a:xfrm>
            <a:off x="566928" y="1517904"/>
            <a:ext cx="11064240" cy="297180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ctr"/>
          </a:p>
        </p:txBody>
      </p:sp>
      <p:sp>
        <p:nvSpPr>
          <p:cNvPr id="17413" name="TextBox 17412"/>
          <p:cNvSpPr txBox="1"/>
          <p:nvPr/>
        </p:nvSpPr>
        <p:spPr>
          <a:xfrm>
            <a:off x="676656" y="1517904"/>
            <a:ext cx="3977639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000" b="1" i="0">
                <a:solidFill>
                  <a:srgbClr val="FFFFFF"/>
                </a:solidFill>
                <a:latin typeface="Arial"/>
              </a:rPr>
              <a:t>PS26169 PARAMETER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4654296" y="1517904"/>
            <a:ext cx="3520440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000" b="1" i="0">
                <a:solidFill>
                  <a:srgbClr val="FFFFFF"/>
                </a:solidFill>
                <a:latin typeface="Arial"/>
              </a:rPr>
              <a:t>SPECIFIED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8174736" y="1517904"/>
            <a:ext cx="3246120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000" b="1" i="0">
                <a:solidFill>
                  <a:srgbClr val="FFFFFF"/>
                </a:solidFill>
                <a:latin typeface="Arial"/>
              </a:rPr>
              <a:t>ZERODRIFT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11420855" y="1517904"/>
            <a:ext cx="320040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0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566928" y="1815084"/>
            <a:ext cx="11064240" cy="297180"/>
          </a:xfrm>
          <a:prstGeom prst="roundRect">
            <a:avLst>
              <a:gd name="adj" fmla="val 60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ctr"/>
          </a:p>
        </p:txBody>
      </p:sp>
      <p:sp>
        <p:nvSpPr>
          <p:cNvPr id="17418" name="TextBox 17417"/>
          <p:cNvSpPr txBox="1"/>
          <p:nvPr/>
        </p:nvSpPr>
        <p:spPr>
          <a:xfrm>
            <a:off x="676656" y="1815084"/>
            <a:ext cx="3977639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50" b="0" i="0">
                <a:solidFill>
                  <a:srgbClr val="0B2545"/>
                </a:solidFill>
                <a:latin typeface="Arial"/>
              </a:rPr>
              <a:t>Camera resolution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4654296" y="1815084"/>
            <a:ext cx="3520440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50" b="0" i="0">
                <a:solidFill>
                  <a:srgbClr val="0B2545"/>
                </a:solidFill>
                <a:latin typeface="Arial"/>
              </a:rPr>
              <a:t>640 x 480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8174736" y="1815084"/>
            <a:ext cx="3246120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50" b="1" i="0">
                <a:solidFill>
                  <a:srgbClr val="0B2545"/>
                </a:solidFill>
                <a:latin typeface="Arial"/>
              </a:rPr>
              <a:t>640 x 480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11420855" y="1815084"/>
            <a:ext cx="320040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F8A5B"/>
                </a:solidFill>
                <a:latin typeface="Arial"/>
              </a:rPr>
              <a:t>✓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676656" y="2112264"/>
            <a:ext cx="3977639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50" b="0" i="0">
                <a:solidFill>
                  <a:srgbClr val="0B2545"/>
                </a:solidFill>
                <a:latin typeface="Arial"/>
              </a:rPr>
              <a:t>Camera FOV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4654296" y="2112264"/>
            <a:ext cx="3520440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50" b="0" i="0">
                <a:solidFill>
                  <a:srgbClr val="0B2545"/>
                </a:solidFill>
                <a:latin typeface="Arial"/>
              </a:rPr>
              <a:t>4° x 3° default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8174736" y="2112264"/>
            <a:ext cx="3246120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50" b="1" i="0">
                <a:solidFill>
                  <a:srgbClr val="0B2545"/>
                </a:solidFill>
                <a:latin typeface="Arial"/>
              </a:rPr>
              <a:t>4° x 3°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11420855" y="2112264"/>
            <a:ext cx="320040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F8A5B"/>
                </a:solidFill>
                <a:latin typeface="Arial"/>
              </a:rPr>
              <a:t>✓</a:t>
            </a:r>
          </a:p>
        </p:txBody>
      </p:sp>
      <p:sp>
        <p:nvSpPr>
          <p:cNvPr id="17426" name="Rounded Rectangle 17425"/>
          <p:cNvSpPr/>
          <p:nvPr/>
        </p:nvSpPr>
        <p:spPr>
          <a:xfrm>
            <a:off x="566928" y="2409444"/>
            <a:ext cx="11064240" cy="297180"/>
          </a:xfrm>
          <a:prstGeom prst="roundRect">
            <a:avLst>
              <a:gd name="adj" fmla="val 60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ctr"/>
          </a:p>
        </p:txBody>
      </p:sp>
      <p:sp>
        <p:nvSpPr>
          <p:cNvPr id="17427" name="TextBox 17426"/>
          <p:cNvSpPr txBox="1"/>
          <p:nvPr/>
        </p:nvSpPr>
        <p:spPr>
          <a:xfrm>
            <a:off x="676656" y="2409444"/>
            <a:ext cx="3977639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50" b="0" i="0">
                <a:solidFill>
                  <a:srgbClr val="0B2545"/>
                </a:solidFill>
                <a:latin typeface="Arial"/>
              </a:rPr>
              <a:t>Camera update rate</a:t>
            </a:r>
          </a:p>
        </p:txBody>
      </p:sp>
      <p:sp>
        <p:nvSpPr>
          <p:cNvPr id="17428" name="TextBox 17427"/>
          <p:cNvSpPr txBox="1"/>
          <p:nvPr/>
        </p:nvSpPr>
        <p:spPr>
          <a:xfrm>
            <a:off x="4654296" y="2409444"/>
            <a:ext cx="3520440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50" b="0" i="0">
                <a:solidFill>
                  <a:srgbClr val="0B2545"/>
                </a:solidFill>
                <a:latin typeface="Arial"/>
              </a:rPr>
              <a:t>≥ 30 Hz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8174736" y="2409444"/>
            <a:ext cx="3246120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50" b="1" i="0">
                <a:solidFill>
                  <a:srgbClr val="0B2545"/>
                </a:solidFill>
                <a:latin typeface="Arial"/>
              </a:rPr>
              <a:t>30 Hz</a:t>
            </a:r>
          </a:p>
        </p:txBody>
      </p:sp>
      <p:sp>
        <p:nvSpPr>
          <p:cNvPr id="17430" name="TextBox 17429"/>
          <p:cNvSpPr txBox="1"/>
          <p:nvPr/>
        </p:nvSpPr>
        <p:spPr>
          <a:xfrm>
            <a:off x="11420855" y="2409444"/>
            <a:ext cx="320040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F8A5B"/>
                </a:solidFill>
                <a:latin typeface="Arial"/>
              </a:rPr>
              <a:t>✓</a:t>
            </a:r>
          </a:p>
        </p:txBody>
      </p:sp>
      <p:sp>
        <p:nvSpPr>
          <p:cNvPr id="17431" name="TextBox 17430"/>
          <p:cNvSpPr txBox="1"/>
          <p:nvPr/>
        </p:nvSpPr>
        <p:spPr>
          <a:xfrm>
            <a:off x="676656" y="2706624"/>
            <a:ext cx="3977639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50" b="0" i="0">
                <a:solidFill>
                  <a:srgbClr val="0B2545"/>
                </a:solidFill>
                <a:latin typeface="Arial"/>
              </a:rPr>
              <a:t>Max pan / tilt speed</a:t>
            </a:r>
          </a:p>
        </p:txBody>
      </p:sp>
      <p:sp>
        <p:nvSpPr>
          <p:cNvPr id="17432" name="TextBox 17431"/>
          <p:cNvSpPr txBox="1"/>
          <p:nvPr/>
        </p:nvSpPr>
        <p:spPr>
          <a:xfrm>
            <a:off x="4654296" y="2706624"/>
            <a:ext cx="3520440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50" b="0" i="0">
                <a:solidFill>
                  <a:srgbClr val="0B2545"/>
                </a:solidFill>
                <a:latin typeface="Arial"/>
              </a:rPr>
              <a:t>5-10°/s, default 5</a:t>
            </a:r>
          </a:p>
        </p:txBody>
      </p:sp>
      <p:sp>
        <p:nvSpPr>
          <p:cNvPr id="17433" name="TextBox 17432"/>
          <p:cNvSpPr txBox="1"/>
          <p:nvPr/>
        </p:nvSpPr>
        <p:spPr>
          <a:xfrm>
            <a:off x="8174736" y="2706624"/>
            <a:ext cx="3246120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50" b="1" i="0">
                <a:solidFill>
                  <a:srgbClr val="0B2545"/>
                </a:solidFill>
                <a:latin typeface="Arial"/>
              </a:rPr>
              <a:t>5°/s</a:t>
            </a:r>
          </a:p>
        </p:txBody>
      </p:sp>
      <p:sp>
        <p:nvSpPr>
          <p:cNvPr id="17434" name="TextBox 17433"/>
          <p:cNvSpPr txBox="1"/>
          <p:nvPr/>
        </p:nvSpPr>
        <p:spPr>
          <a:xfrm>
            <a:off x="11420855" y="2706624"/>
            <a:ext cx="320040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F8A5B"/>
                </a:solidFill>
                <a:latin typeface="Arial"/>
              </a:rPr>
              <a:t>✓</a:t>
            </a:r>
          </a:p>
        </p:txBody>
      </p:sp>
      <p:sp>
        <p:nvSpPr>
          <p:cNvPr id="17435" name="Rounded Rectangle 17434"/>
          <p:cNvSpPr/>
          <p:nvPr/>
        </p:nvSpPr>
        <p:spPr>
          <a:xfrm>
            <a:off x="566928" y="3003804"/>
            <a:ext cx="11064240" cy="297180"/>
          </a:xfrm>
          <a:prstGeom prst="roundRect">
            <a:avLst>
              <a:gd name="adj" fmla="val 60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ctr"/>
          </a:p>
        </p:txBody>
      </p:sp>
      <p:sp>
        <p:nvSpPr>
          <p:cNvPr id="17436" name="TextBox 17435"/>
          <p:cNvSpPr txBox="1"/>
          <p:nvPr/>
        </p:nvSpPr>
        <p:spPr>
          <a:xfrm>
            <a:off x="676656" y="3003804"/>
            <a:ext cx="3977639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50" b="0" i="0">
                <a:solidFill>
                  <a:srgbClr val="0B2545"/>
                </a:solidFill>
                <a:latin typeface="Arial"/>
              </a:rPr>
              <a:t>Target shape / size</a:t>
            </a:r>
          </a:p>
        </p:txBody>
      </p:sp>
      <p:sp>
        <p:nvSpPr>
          <p:cNvPr id="17437" name="TextBox 17436"/>
          <p:cNvSpPr txBox="1"/>
          <p:nvPr/>
        </p:nvSpPr>
        <p:spPr>
          <a:xfrm>
            <a:off x="4654296" y="3003804"/>
            <a:ext cx="3520440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50" b="0" i="0">
                <a:solidFill>
                  <a:srgbClr val="0B2545"/>
                </a:solidFill>
                <a:latin typeface="Arial"/>
              </a:rPr>
              <a:t>square, 10 x 10 px</a:t>
            </a:r>
          </a:p>
        </p:txBody>
      </p:sp>
      <p:sp>
        <p:nvSpPr>
          <p:cNvPr id="17438" name="TextBox 17437"/>
          <p:cNvSpPr txBox="1"/>
          <p:nvPr/>
        </p:nvSpPr>
        <p:spPr>
          <a:xfrm>
            <a:off x="8174736" y="3003804"/>
            <a:ext cx="3246120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50" b="1" i="0">
                <a:solidFill>
                  <a:srgbClr val="0B2545"/>
                </a:solidFill>
                <a:latin typeface="Arial"/>
              </a:rPr>
              <a:t>square, 10 x 10 px</a:t>
            </a:r>
          </a:p>
        </p:txBody>
      </p:sp>
      <p:sp>
        <p:nvSpPr>
          <p:cNvPr id="17439" name="TextBox 17438"/>
          <p:cNvSpPr txBox="1"/>
          <p:nvPr/>
        </p:nvSpPr>
        <p:spPr>
          <a:xfrm>
            <a:off x="11420855" y="3003804"/>
            <a:ext cx="320040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F8A5B"/>
                </a:solidFill>
                <a:latin typeface="Arial"/>
              </a:rPr>
              <a:t>✓</a:t>
            </a:r>
          </a:p>
        </p:txBody>
      </p:sp>
      <p:sp>
        <p:nvSpPr>
          <p:cNvPr id="17440" name="TextBox 17439"/>
          <p:cNvSpPr txBox="1"/>
          <p:nvPr/>
        </p:nvSpPr>
        <p:spPr>
          <a:xfrm>
            <a:off x="676656" y="3300984"/>
            <a:ext cx="3977639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50" b="0" i="0">
                <a:solidFill>
                  <a:srgbClr val="0B2545"/>
                </a:solidFill>
                <a:latin typeface="Arial"/>
              </a:rPr>
              <a:t>Motion patterns</a:t>
            </a:r>
          </a:p>
        </p:txBody>
      </p:sp>
      <p:sp>
        <p:nvSpPr>
          <p:cNvPr id="17441" name="TextBox 17440"/>
          <p:cNvSpPr txBox="1"/>
          <p:nvPr/>
        </p:nvSpPr>
        <p:spPr>
          <a:xfrm>
            <a:off x="4654296" y="3300984"/>
            <a:ext cx="3520440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50" b="0" i="0">
                <a:solidFill>
                  <a:srgbClr val="0B2545"/>
                </a:solidFill>
                <a:latin typeface="Arial"/>
              </a:rPr>
              <a:t>≥ 4, incl. Figure-of-8</a:t>
            </a:r>
          </a:p>
        </p:txBody>
      </p:sp>
      <p:sp>
        <p:nvSpPr>
          <p:cNvPr id="17442" name="TextBox 17441"/>
          <p:cNvSpPr txBox="1"/>
          <p:nvPr/>
        </p:nvSpPr>
        <p:spPr>
          <a:xfrm>
            <a:off x="8174736" y="3300984"/>
            <a:ext cx="3246120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50" b="1" i="0">
                <a:solidFill>
                  <a:srgbClr val="0B2545"/>
                </a:solidFill>
                <a:latin typeface="Arial"/>
              </a:rPr>
              <a:t>7, incl. Figure-of-8</a:t>
            </a:r>
          </a:p>
        </p:txBody>
      </p:sp>
      <p:sp>
        <p:nvSpPr>
          <p:cNvPr id="17443" name="TextBox 17442"/>
          <p:cNvSpPr txBox="1"/>
          <p:nvPr/>
        </p:nvSpPr>
        <p:spPr>
          <a:xfrm>
            <a:off x="11420855" y="3300984"/>
            <a:ext cx="320040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F8A5B"/>
                </a:solidFill>
                <a:latin typeface="Arial"/>
              </a:rPr>
              <a:t>✓</a:t>
            </a:r>
          </a:p>
        </p:txBody>
      </p:sp>
      <p:sp>
        <p:nvSpPr>
          <p:cNvPr id="17444" name="Rounded Rectangle 17443"/>
          <p:cNvSpPr/>
          <p:nvPr/>
        </p:nvSpPr>
        <p:spPr>
          <a:xfrm>
            <a:off x="566928" y="3598163"/>
            <a:ext cx="11064240" cy="297180"/>
          </a:xfrm>
          <a:prstGeom prst="roundRect">
            <a:avLst>
              <a:gd name="adj" fmla="val 60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ctr"/>
          </a:p>
        </p:txBody>
      </p:sp>
      <p:sp>
        <p:nvSpPr>
          <p:cNvPr id="17445" name="TextBox 17444"/>
          <p:cNvSpPr txBox="1"/>
          <p:nvPr/>
        </p:nvSpPr>
        <p:spPr>
          <a:xfrm>
            <a:off x="676656" y="3598163"/>
            <a:ext cx="3977639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50" b="0" i="0">
                <a:solidFill>
                  <a:srgbClr val="0B2545"/>
                </a:solidFill>
                <a:latin typeface="Arial"/>
              </a:rPr>
              <a:t>Image noise</a:t>
            </a:r>
          </a:p>
        </p:txBody>
      </p:sp>
      <p:sp>
        <p:nvSpPr>
          <p:cNvPr id="17446" name="TextBox 17445"/>
          <p:cNvSpPr txBox="1"/>
          <p:nvPr/>
        </p:nvSpPr>
        <p:spPr>
          <a:xfrm>
            <a:off x="4654296" y="3598163"/>
            <a:ext cx="3520440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50" b="0" i="0">
                <a:solidFill>
                  <a:srgbClr val="0B2545"/>
                </a:solidFill>
                <a:latin typeface="Arial"/>
              </a:rPr>
              <a:t>S&amp;P ~10%, Gaussian, Poisson</a:t>
            </a:r>
          </a:p>
        </p:txBody>
      </p:sp>
      <p:sp>
        <p:nvSpPr>
          <p:cNvPr id="17447" name="TextBox 17446"/>
          <p:cNvSpPr txBox="1"/>
          <p:nvPr/>
        </p:nvSpPr>
        <p:spPr>
          <a:xfrm>
            <a:off x="8174736" y="3598163"/>
            <a:ext cx="3246120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50" b="1" i="0">
                <a:solidFill>
                  <a:srgbClr val="0B2545"/>
                </a:solidFill>
                <a:latin typeface="Arial"/>
              </a:rPr>
              <a:t>all three, S&amp;P at 10%</a:t>
            </a:r>
          </a:p>
        </p:txBody>
      </p:sp>
      <p:sp>
        <p:nvSpPr>
          <p:cNvPr id="17448" name="TextBox 17447"/>
          <p:cNvSpPr txBox="1"/>
          <p:nvPr/>
        </p:nvSpPr>
        <p:spPr>
          <a:xfrm>
            <a:off x="11420855" y="3598163"/>
            <a:ext cx="320040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F8A5B"/>
                </a:solidFill>
                <a:latin typeface="Arial"/>
              </a:rPr>
              <a:t>✓</a:t>
            </a:r>
          </a:p>
        </p:txBody>
      </p:sp>
      <p:sp>
        <p:nvSpPr>
          <p:cNvPr id="17449" name="TextBox 17448"/>
          <p:cNvSpPr txBox="1"/>
          <p:nvPr/>
        </p:nvSpPr>
        <p:spPr>
          <a:xfrm>
            <a:off x="676656" y="3895344"/>
            <a:ext cx="3977639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50" b="0" i="0">
                <a:solidFill>
                  <a:srgbClr val="0B2545"/>
                </a:solidFill>
                <a:latin typeface="Arial"/>
              </a:rPr>
              <a:t>Camera jitter</a:t>
            </a:r>
          </a:p>
        </p:txBody>
      </p:sp>
      <p:sp>
        <p:nvSpPr>
          <p:cNvPr id="17450" name="TextBox 17449"/>
          <p:cNvSpPr txBox="1"/>
          <p:nvPr/>
        </p:nvSpPr>
        <p:spPr>
          <a:xfrm>
            <a:off x="4654296" y="3895344"/>
            <a:ext cx="3520440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50" b="0" i="0">
                <a:solidFill>
                  <a:srgbClr val="0B2545"/>
                </a:solidFill>
                <a:latin typeface="Arial"/>
              </a:rPr>
              <a:t>± 20 px / frame</a:t>
            </a:r>
          </a:p>
        </p:txBody>
      </p:sp>
      <p:sp>
        <p:nvSpPr>
          <p:cNvPr id="17451" name="TextBox 17450"/>
          <p:cNvSpPr txBox="1"/>
          <p:nvPr/>
        </p:nvSpPr>
        <p:spPr>
          <a:xfrm>
            <a:off x="8174736" y="3895344"/>
            <a:ext cx="3246120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50" b="1" i="0">
                <a:solidFill>
                  <a:srgbClr val="0B2545"/>
                </a:solidFill>
                <a:latin typeface="Arial"/>
              </a:rPr>
              <a:t>19.8 px p99, measured</a:t>
            </a:r>
          </a:p>
        </p:txBody>
      </p:sp>
      <p:sp>
        <p:nvSpPr>
          <p:cNvPr id="17452" name="TextBox 17451"/>
          <p:cNvSpPr txBox="1"/>
          <p:nvPr/>
        </p:nvSpPr>
        <p:spPr>
          <a:xfrm>
            <a:off x="11420855" y="3895344"/>
            <a:ext cx="320040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F8A5B"/>
                </a:solidFill>
                <a:latin typeface="Arial"/>
              </a:rPr>
              <a:t>✓</a:t>
            </a:r>
          </a:p>
        </p:txBody>
      </p:sp>
      <p:sp>
        <p:nvSpPr>
          <p:cNvPr id="17453" name="Rounded Rectangle 17452"/>
          <p:cNvSpPr/>
          <p:nvPr/>
        </p:nvSpPr>
        <p:spPr>
          <a:xfrm>
            <a:off x="566928" y="4192524"/>
            <a:ext cx="11064240" cy="297180"/>
          </a:xfrm>
          <a:prstGeom prst="roundRect">
            <a:avLst>
              <a:gd name="adj" fmla="val 60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ctr"/>
          </a:p>
        </p:txBody>
      </p:sp>
      <p:sp>
        <p:nvSpPr>
          <p:cNvPr id="17454" name="TextBox 17453"/>
          <p:cNvSpPr txBox="1"/>
          <p:nvPr/>
        </p:nvSpPr>
        <p:spPr>
          <a:xfrm>
            <a:off x="676656" y="4192524"/>
            <a:ext cx="3977639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50" b="0" i="0">
                <a:solidFill>
                  <a:srgbClr val="0B2545"/>
                </a:solidFill>
                <a:latin typeface="Arial"/>
              </a:rPr>
              <a:t>Platform motion</a:t>
            </a:r>
          </a:p>
        </p:txBody>
      </p:sp>
      <p:sp>
        <p:nvSpPr>
          <p:cNvPr id="17455" name="TextBox 17454"/>
          <p:cNvSpPr txBox="1"/>
          <p:nvPr/>
        </p:nvSpPr>
        <p:spPr>
          <a:xfrm>
            <a:off x="4654296" y="4192524"/>
            <a:ext cx="3520440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50" b="0" i="0">
                <a:solidFill>
                  <a:srgbClr val="0B2545"/>
                </a:solidFill>
                <a:latin typeface="Arial"/>
              </a:rPr>
              <a:t>± 20 px / frame, linear</a:t>
            </a:r>
          </a:p>
        </p:txBody>
      </p:sp>
      <p:sp>
        <p:nvSpPr>
          <p:cNvPr id="17456" name="TextBox 17455"/>
          <p:cNvSpPr txBox="1"/>
          <p:nvPr/>
        </p:nvSpPr>
        <p:spPr>
          <a:xfrm>
            <a:off x="8174736" y="4192524"/>
            <a:ext cx="3246120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50" b="1" i="0">
                <a:solidFill>
                  <a:srgbClr val="0B2545"/>
                </a:solidFill>
                <a:latin typeface="Arial"/>
              </a:rPr>
              <a:t>linear drift, 6 px / frame</a:t>
            </a:r>
          </a:p>
        </p:txBody>
      </p:sp>
      <p:sp>
        <p:nvSpPr>
          <p:cNvPr id="17457" name="TextBox 17456"/>
          <p:cNvSpPr txBox="1"/>
          <p:nvPr/>
        </p:nvSpPr>
        <p:spPr>
          <a:xfrm>
            <a:off x="11420855" y="4192524"/>
            <a:ext cx="320040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F8A5B"/>
                </a:solidFill>
                <a:latin typeface="Arial"/>
              </a:rPr>
              <a:t>✓</a:t>
            </a:r>
          </a:p>
        </p:txBody>
      </p:sp>
      <p:sp>
        <p:nvSpPr>
          <p:cNvPr id="17458" name="TextBox 17457"/>
          <p:cNvSpPr txBox="1"/>
          <p:nvPr/>
        </p:nvSpPr>
        <p:spPr>
          <a:xfrm>
            <a:off x="676656" y="4489704"/>
            <a:ext cx="3977639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50" b="0" i="0">
                <a:solidFill>
                  <a:srgbClr val="0B2545"/>
                </a:solidFill>
                <a:latin typeface="Arial"/>
              </a:rPr>
              <a:t>Atmospheric conditions</a:t>
            </a:r>
          </a:p>
        </p:txBody>
      </p:sp>
      <p:sp>
        <p:nvSpPr>
          <p:cNvPr id="17459" name="TextBox 17458"/>
          <p:cNvSpPr txBox="1"/>
          <p:nvPr/>
        </p:nvSpPr>
        <p:spPr>
          <a:xfrm>
            <a:off x="4654296" y="4489704"/>
            <a:ext cx="3520440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50" b="0" i="0">
                <a:solidFill>
                  <a:srgbClr val="0B2545"/>
                </a:solidFill>
                <a:latin typeface="Arial"/>
              </a:rPr>
              <a:t>Clear / Haze / Fog / Rain / Low light</a:t>
            </a:r>
          </a:p>
        </p:txBody>
      </p:sp>
      <p:sp>
        <p:nvSpPr>
          <p:cNvPr id="17460" name="TextBox 17459"/>
          <p:cNvSpPr txBox="1"/>
          <p:nvPr/>
        </p:nvSpPr>
        <p:spPr>
          <a:xfrm>
            <a:off x="8174736" y="4489704"/>
            <a:ext cx="3246120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50" b="1" i="0">
                <a:solidFill>
                  <a:srgbClr val="0B2545"/>
                </a:solidFill>
                <a:latin typeface="Arial"/>
              </a:rPr>
              <a:t>all five</a:t>
            </a:r>
          </a:p>
        </p:txBody>
      </p:sp>
      <p:sp>
        <p:nvSpPr>
          <p:cNvPr id="17461" name="TextBox 17460"/>
          <p:cNvSpPr txBox="1"/>
          <p:nvPr/>
        </p:nvSpPr>
        <p:spPr>
          <a:xfrm>
            <a:off x="11420855" y="4489704"/>
            <a:ext cx="320040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F8A5B"/>
                </a:solidFill>
                <a:latin typeface="Arial"/>
              </a:rPr>
              <a:t>✓</a:t>
            </a:r>
          </a:p>
        </p:txBody>
      </p:sp>
      <p:sp>
        <p:nvSpPr>
          <p:cNvPr id="17462" name="Rounded Rectangle 17461"/>
          <p:cNvSpPr/>
          <p:nvPr/>
        </p:nvSpPr>
        <p:spPr>
          <a:xfrm>
            <a:off x="566928" y="4786884"/>
            <a:ext cx="11064240" cy="297180"/>
          </a:xfrm>
          <a:prstGeom prst="roundRect">
            <a:avLst>
              <a:gd name="adj" fmla="val 60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ctr"/>
          </a:p>
        </p:txBody>
      </p:sp>
      <p:sp>
        <p:nvSpPr>
          <p:cNvPr id="17463" name="TextBox 17462"/>
          <p:cNvSpPr txBox="1"/>
          <p:nvPr/>
        </p:nvSpPr>
        <p:spPr>
          <a:xfrm>
            <a:off x="676656" y="4786884"/>
            <a:ext cx="3977639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50" b="0" i="0">
                <a:solidFill>
                  <a:srgbClr val="0B2545"/>
                </a:solidFill>
                <a:latin typeface="Arial"/>
              </a:rPr>
              <a:t>MP4 input, bypassing PTZ</a:t>
            </a:r>
          </a:p>
        </p:txBody>
      </p:sp>
      <p:sp>
        <p:nvSpPr>
          <p:cNvPr id="17464" name="TextBox 17463"/>
          <p:cNvSpPr txBox="1"/>
          <p:nvPr/>
        </p:nvSpPr>
        <p:spPr>
          <a:xfrm>
            <a:off x="4654296" y="4786884"/>
            <a:ext cx="3520440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50" b="0" i="0">
                <a:solidFill>
                  <a:srgbClr val="0B2545"/>
                </a:solidFill>
                <a:latin typeface="Arial"/>
              </a:rPr>
              <a:t>required (Benchmark-2)</a:t>
            </a:r>
          </a:p>
        </p:txBody>
      </p:sp>
      <p:sp>
        <p:nvSpPr>
          <p:cNvPr id="17465" name="TextBox 17464"/>
          <p:cNvSpPr txBox="1"/>
          <p:nvPr/>
        </p:nvSpPr>
        <p:spPr>
          <a:xfrm>
            <a:off x="8174736" y="4786884"/>
            <a:ext cx="3246120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50" b="1" i="0">
                <a:solidFill>
                  <a:srgbClr val="0B2545"/>
                </a:solidFill>
                <a:latin typeface="Arial"/>
              </a:rPr>
              <a:t>--video, working</a:t>
            </a:r>
          </a:p>
        </p:txBody>
      </p:sp>
      <p:sp>
        <p:nvSpPr>
          <p:cNvPr id="17466" name="TextBox 17465"/>
          <p:cNvSpPr txBox="1"/>
          <p:nvPr/>
        </p:nvSpPr>
        <p:spPr>
          <a:xfrm>
            <a:off x="11420855" y="4786884"/>
            <a:ext cx="320040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F8A5B"/>
                </a:solidFill>
                <a:latin typeface="Arial"/>
              </a:rPr>
              <a:t>✓</a:t>
            </a:r>
          </a:p>
        </p:txBody>
      </p:sp>
      <p:sp>
        <p:nvSpPr>
          <p:cNvPr id="17467" name="Rounded Rectangle 17466"/>
          <p:cNvSpPr/>
          <p:nvPr/>
        </p:nvSpPr>
        <p:spPr>
          <a:xfrm>
            <a:off x="566928" y="5084064"/>
            <a:ext cx="11064240" cy="297180"/>
          </a:xfrm>
          <a:prstGeom prst="roundRect">
            <a:avLst>
              <a:gd name="adj" fmla="val 6000"/>
            </a:avLst>
          </a:prstGeom>
          <a:solidFill>
            <a:srgbClr val="FC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ctr"/>
          </a:p>
        </p:txBody>
      </p:sp>
      <p:sp>
        <p:nvSpPr>
          <p:cNvPr id="17468" name="TextBox 17467"/>
          <p:cNvSpPr txBox="1"/>
          <p:nvPr/>
        </p:nvSpPr>
        <p:spPr>
          <a:xfrm>
            <a:off x="676656" y="5084064"/>
            <a:ext cx="3977639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50" b="0" i="0">
                <a:solidFill>
                  <a:srgbClr val="9C2E23"/>
                </a:solidFill>
                <a:latin typeface="Arial"/>
              </a:rPr>
              <a:t>Acquisition time</a:t>
            </a:r>
          </a:p>
        </p:txBody>
      </p:sp>
      <p:sp>
        <p:nvSpPr>
          <p:cNvPr id="17469" name="TextBox 17468"/>
          <p:cNvSpPr txBox="1"/>
          <p:nvPr/>
        </p:nvSpPr>
        <p:spPr>
          <a:xfrm>
            <a:off x="4654296" y="5084064"/>
            <a:ext cx="3520440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50" b="0" i="0">
                <a:solidFill>
                  <a:srgbClr val="9C2E23"/>
                </a:solidFill>
                <a:latin typeface="Arial"/>
              </a:rPr>
              <a:t>≤ 2 s</a:t>
            </a:r>
          </a:p>
        </p:txBody>
      </p:sp>
      <p:sp>
        <p:nvSpPr>
          <p:cNvPr id="17470" name="TextBox 17469"/>
          <p:cNvSpPr txBox="1"/>
          <p:nvPr/>
        </p:nvSpPr>
        <p:spPr>
          <a:xfrm>
            <a:off x="8174736" y="5084064"/>
            <a:ext cx="3246120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50" b="1" i="0">
                <a:solidFill>
                  <a:srgbClr val="9C2E23"/>
                </a:solidFill>
                <a:latin typeface="Arial"/>
              </a:rPr>
              <a:t>25.3 s → 3.53 s  — open</a:t>
            </a:r>
          </a:p>
        </p:txBody>
      </p:sp>
      <p:sp>
        <p:nvSpPr>
          <p:cNvPr id="17471" name="TextBox 17470"/>
          <p:cNvSpPr txBox="1"/>
          <p:nvPr/>
        </p:nvSpPr>
        <p:spPr>
          <a:xfrm>
            <a:off x="11420855" y="5084064"/>
            <a:ext cx="320040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9C2E23"/>
                </a:solidFill>
                <a:latin typeface="Arial"/>
              </a:rPr>
              <a:t>✗</a:t>
            </a:r>
          </a:p>
        </p:txBody>
      </p:sp>
      <p:sp>
        <p:nvSpPr>
          <p:cNvPr id="17472" name="Rounded Rectangle 17471"/>
          <p:cNvSpPr/>
          <p:nvPr/>
        </p:nvSpPr>
        <p:spPr>
          <a:xfrm>
            <a:off x="566928" y="5381244"/>
            <a:ext cx="11064240" cy="297180"/>
          </a:xfrm>
          <a:prstGeom prst="roundRect">
            <a:avLst>
              <a:gd name="adj" fmla="val 6000"/>
            </a:avLst>
          </a:prstGeom>
          <a:solidFill>
            <a:srgbClr val="FC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ctr"/>
          </a:p>
        </p:txBody>
      </p:sp>
      <p:sp>
        <p:nvSpPr>
          <p:cNvPr id="17473" name="TextBox 17472"/>
          <p:cNvSpPr txBox="1"/>
          <p:nvPr/>
        </p:nvSpPr>
        <p:spPr>
          <a:xfrm>
            <a:off x="676656" y="5381244"/>
            <a:ext cx="3977639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50" b="0" i="0">
                <a:solidFill>
                  <a:srgbClr val="9C2E23"/>
                </a:solidFill>
                <a:latin typeface="Arial"/>
              </a:rPr>
              <a:t>Tracking error (median)</a:t>
            </a:r>
          </a:p>
        </p:txBody>
      </p:sp>
      <p:sp>
        <p:nvSpPr>
          <p:cNvPr id="17474" name="TextBox 17473"/>
          <p:cNvSpPr txBox="1"/>
          <p:nvPr/>
        </p:nvSpPr>
        <p:spPr>
          <a:xfrm>
            <a:off x="4654296" y="5381244"/>
            <a:ext cx="3520440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50" b="0" i="0">
                <a:solidFill>
                  <a:srgbClr val="9C2E23"/>
                </a:solidFill>
                <a:latin typeface="Arial"/>
              </a:rPr>
              <a:t>≤ 10 px</a:t>
            </a:r>
          </a:p>
        </p:txBody>
      </p:sp>
      <p:sp>
        <p:nvSpPr>
          <p:cNvPr id="17475" name="TextBox 17474"/>
          <p:cNvSpPr txBox="1"/>
          <p:nvPr/>
        </p:nvSpPr>
        <p:spPr>
          <a:xfrm>
            <a:off x="8174736" y="5381244"/>
            <a:ext cx="3246120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50" b="1" i="0">
                <a:solidFill>
                  <a:srgbClr val="9C2E23"/>
                </a:solidFill>
                <a:latin typeface="Arial"/>
              </a:rPr>
              <a:t>2,367 → 170 px  — open</a:t>
            </a:r>
          </a:p>
        </p:txBody>
      </p:sp>
      <p:sp>
        <p:nvSpPr>
          <p:cNvPr id="17476" name="TextBox 17475"/>
          <p:cNvSpPr txBox="1"/>
          <p:nvPr/>
        </p:nvSpPr>
        <p:spPr>
          <a:xfrm>
            <a:off x="11420855" y="5381244"/>
            <a:ext cx="320040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9C2E23"/>
                </a:solidFill>
                <a:latin typeface="Arial"/>
              </a:rPr>
              <a:t>✗</a:t>
            </a:r>
          </a:p>
        </p:txBody>
      </p:sp>
      <p:sp>
        <p:nvSpPr>
          <p:cNvPr id="17477" name="Rounded Rectangle 17476"/>
          <p:cNvSpPr/>
          <p:nvPr/>
        </p:nvSpPr>
        <p:spPr>
          <a:xfrm>
            <a:off x="566928" y="5678424"/>
            <a:ext cx="11064240" cy="297180"/>
          </a:xfrm>
          <a:prstGeom prst="roundRect">
            <a:avLst>
              <a:gd name="adj" fmla="val 6000"/>
            </a:avLst>
          </a:prstGeom>
          <a:solidFill>
            <a:srgbClr val="FC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ctr"/>
          </a:p>
        </p:txBody>
      </p:sp>
      <p:sp>
        <p:nvSpPr>
          <p:cNvPr id="17478" name="TextBox 17477"/>
          <p:cNvSpPr txBox="1"/>
          <p:nvPr/>
        </p:nvSpPr>
        <p:spPr>
          <a:xfrm>
            <a:off x="676656" y="5678424"/>
            <a:ext cx="3977639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50" b="0" i="0">
                <a:solidFill>
                  <a:srgbClr val="9C2E23"/>
                </a:solidFill>
                <a:latin typeface="Arial"/>
              </a:rPr>
              <a:t>Processing speed</a:t>
            </a:r>
          </a:p>
        </p:txBody>
      </p:sp>
      <p:sp>
        <p:nvSpPr>
          <p:cNvPr id="17479" name="TextBox 17478"/>
          <p:cNvSpPr txBox="1"/>
          <p:nvPr/>
        </p:nvSpPr>
        <p:spPr>
          <a:xfrm>
            <a:off x="4654296" y="5678424"/>
            <a:ext cx="3520440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50" b="0" i="0">
                <a:solidFill>
                  <a:srgbClr val="9C2E23"/>
                </a:solidFill>
                <a:latin typeface="Arial"/>
              </a:rPr>
              <a:t>≥ 20 FPS</a:t>
            </a:r>
          </a:p>
        </p:txBody>
      </p:sp>
      <p:sp>
        <p:nvSpPr>
          <p:cNvPr id="17480" name="TextBox 17479"/>
          <p:cNvSpPr txBox="1"/>
          <p:nvPr/>
        </p:nvSpPr>
        <p:spPr>
          <a:xfrm>
            <a:off x="8174736" y="5678424"/>
            <a:ext cx="3246120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50" b="1" i="0">
                <a:solidFill>
                  <a:srgbClr val="9C2E23"/>
                </a:solidFill>
                <a:latin typeface="Arial"/>
              </a:rPr>
              <a:t>9.2 FPS  — open</a:t>
            </a:r>
          </a:p>
        </p:txBody>
      </p:sp>
      <p:sp>
        <p:nvSpPr>
          <p:cNvPr id="17481" name="TextBox 17480"/>
          <p:cNvSpPr txBox="1"/>
          <p:nvPr/>
        </p:nvSpPr>
        <p:spPr>
          <a:xfrm>
            <a:off x="11420855" y="5678424"/>
            <a:ext cx="320040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9C2E23"/>
                </a:solidFill>
                <a:latin typeface="Arial"/>
              </a:rPr>
              <a:t>✗</a:t>
            </a:r>
          </a:p>
        </p:txBody>
      </p:sp>
      <p:sp>
        <p:nvSpPr>
          <p:cNvPr id="17482" name="Rounded Rectangle 17481"/>
          <p:cNvSpPr/>
          <p:nvPr/>
        </p:nvSpPr>
        <p:spPr>
          <a:xfrm>
            <a:off x="566928" y="6067044"/>
            <a:ext cx="11064240" cy="694944"/>
          </a:xfrm>
          <a:prstGeom prst="roundRect">
            <a:avLst>
              <a:gd name="adj" fmla="val 6000"/>
            </a:avLst>
          </a:prstGeom>
          <a:solidFill>
            <a:srgbClr val="F3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ctr"/>
          </a:p>
        </p:txBody>
      </p:sp>
      <p:sp>
        <p:nvSpPr>
          <p:cNvPr id="17483" name="TextBox 17482"/>
          <p:cNvSpPr txBox="1"/>
          <p:nvPr/>
        </p:nvSpPr>
        <p:spPr>
          <a:xfrm>
            <a:off x="713232" y="6085331"/>
            <a:ext cx="1077163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00" b="1" i="0">
                <a:solidFill>
                  <a:srgbClr val="0B2545"/>
                </a:solidFill>
                <a:latin typeface="Arial"/>
              </a:rPr>
              <a:t>The three open rows are open, not footnoted.  </a:t>
            </a:r>
            <a:r>
              <a:rPr sz="900" b="0" i="0">
                <a:solidFill>
                  <a:srgbClr val="0B2545"/>
                </a:solidFill>
                <a:latin typeface="Arial"/>
              </a:rPr>
              <a:t>Arrows are before → after our own fix, both measured with the full specified disturbance present. A constant-velocity platform drift is a ramp, and a PD loop has finite steady-state error to a ramp — wrong loop order, not bad tuning. Adding a second integrator (type 2, leaky) cut acquisition 7x and median error 14x. It is implemented and shipped; it is not yet enough.</a:t>
            </a:r>
          </a:p>
          <a:p>
            <a:pPr>
              <a:spcAft>
                <a:spcPts val="200"/>
              </a:spcAft>
            </a:pPr>
            <a:r>
              <a:rPr sz="900" b="1" i="0">
                <a:solidFill>
                  <a:srgbClr val="0B2545"/>
                </a:solidFill>
                <a:latin typeface="Arial"/>
              </a:rPr>
              <a:t>Every figure regenerates from  </a:t>
            </a:r>
            <a:r>
              <a:rPr sz="900" b="0" i="0">
                <a:solidFill>
                  <a:srgbClr val="0B2545"/>
                </a:solidFill>
                <a:latin typeface="Arial"/>
              </a:rPr>
              <a:t>scenarios/ps26169_benchmark.yaml, which encodes their table and nothing else.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ZeroDrift — SIH 2026 Idea Submission (PS 26169, ISRO)</dc:title>
  <dc:subject>AI-Based Virtual Camera Tracking for Coarse Alignment of Mobile FSOC Terminals</dc:subject>
  <dc:creator>Team ZeroDrift, Jabalpur Engineering College</dc:creator>
  <cp:keywords>SIH 2026, PS 26169, ISRO, FSOC, ZeroDrift</cp:keywords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