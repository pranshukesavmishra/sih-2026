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scholar.google.com/scholar?q=%22A+Survey+on+Acquisition+Tracking+and+Pointing+Mechanisms+for+Mobile+Free-Space+Optical+Communications%22" TargetMode="External"/><Relationship Id="rId5" Type="http://schemas.openxmlformats.org/officeDocument/2006/relationships/hyperlink" Target="https://scholar.google.com/scholar?q=%22Optical+Communication+in+Space+Challenges+and+Mitigation+Techniques%22" TargetMode="External"/><Relationship Id="rId6" Type="http://schemas.openxmlformats.org/officeDocument/2006/relationships/hyperlink" Target="https://scholar.google.com/scholar?q=%22Design+and+Analysis+of+Modern+Tracking+Systems+Blackman+Popoli%22" TargetMode="External"/><Relationship Id="rId7" Type="http://schemas.openxmlformats.org/officeDocument/2006/relationships/hyperlink" Target="https://scholar.google.com/scholar?q=%22Estimation+with+Applications+to+Tracking+and+Navigation+Bar-Shalom%22" TargetMode="External"/><Relationship Id="rId8" Type="http://schemas.openxmlformats.org/officeDocument/2006/relationships/hyperlink" Target="https://scholar.google.com/scholar?q=%22Closer+Control+of+Loops+with+Dead+Time+Smith%22" TargetMode="External"/><Relationship Id="rId9" Type="http://schemas.openxmlformats.org/officeDocument/2006/relationships/hyperlink" Target="https://scholar.google.com/scholar?q=%22SGP4+Orbit+Determination+Vallado+Crawford%22" TargetMode="External"/><Relationship Id="rId10" Type="http://schemas.openxmlformats.org/officeDocument/2006/relationships/hyperlink" Target="https://scholar.google.com/scholar?q=%22Laser+Beam+Propagation+through+Random+Media+Andrews+Phillips%22" TargetMode="External"/><Relationship Id="rId11" Type="http://schemas.openxmlformats.org/officeDocument/2006/relationships/hyperlink" Target="https://github.com/pranshukesavmishra/SIH-2026" TargetMode="External"/><Relationship Id="rId12" Type="http://schemas.openxmlformats.org/officeDocument/2006/relationships/hyperlink" Target="https://zerodrift-fsoc-pat.netlify.app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32688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1" i="0">
                <a:solidFill>
                  <a:srgbClr val="0B2545"/>
                </a:solidFill>
                <a:latin typeface="Arial"/>
              </a:rPr>
              <a:t>Problem Statement ID –</a:t>
            </a:r>
            <a:r>
              <a:rPr sz="1500" b="1" i="0">
                <a:solidFill>
                  <a:srgbClr val="0E7C99"/>
                </a:solidFill>
                <a:latin typeface="Arial"/>
              </a:rPr>
              <a:t>  26169</a:t>
            </a:r>
          </a:p>
          <a:p>
            <a:pPr marL="285750" indent="-285750" algn="just">
              <a:lnSpc>
                <a:spcPct val="2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1" i="0">
                <a:solidFill>
                  <a:srgbClr val="0B2545"/>
                </a:solidFill>
                <a:latin typeface="Arial"/>
              </a:rPr>
              <a:t>Problem Statement Title –</a:t>
            </a:r>
            <a:r>
              <a:rPr sz="1500" b="0" i="0">
                <a:solidFill>
                  <a:srgbClr val="0E7C99"/>
                </a:solidFill>
                <a:latin typeface="Arial"/>
              </a:rPr>
              <a:t>  AI-Based Virtual Camera Tracking System for Coarse Alignment of Mobile FSOC Terminals</a:t>
            </a:r>
          </a:p>
          <a:p>
            <a:pPr marL="285750" indent="-285750" algn="just">
              <a:lnSpc>
                <a:spcPct val="2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1" i="0">
                <a:solidFill>
                  <a:srgbClr val="0B2545"/>
                </a:solidFill>
                <a:latin typeface="Arial"/>
              </a:rPr>
              <a:t>Theme –</a:t>
            </a:r>
            <a:r>
              <a:rPr sz="1500" b="0" i="0">
                <a:solidFill>
                  <a:srgbClr val="0E7C99"/>
                </a:solidFill>
                <a:latin typeface="Arial"/>
              </a:rPr>
              <a:t>  Smart Automation</a:t>
            </a:r>
          </a:p>
          <a:p>
            <a:pPr marL="285750" indent="-285750" algn="just">
              <a:lnSpc>
                <a:spcPct val="2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1" i="0">
                <a:solidFill>
                  <a:srgbClr val="0B2545"/>
                </a:solidFill>
                <a:latin typeface="Arial"/>
              </a:rPr>
              <a:t>PS Category –</a:t>
            </a:r>
            <a:r>
              <a:rPr sz="1500" b="0" i="0">
                <a:solidFill>
                  <a:srgbClr val="0E7C99"/>
                </a:solidFill>
                <a:latin typeface="Arial"/>
              </a:rPr>
              <a:t>  Software</a:t>
            </a:r>
          </a:p>
          <a:p>
            <a:pPr marL="285750" indent="-285750" algn="just">
              <a:lnSpc>
                <a:spcPct val="2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1" i="0">
                <a:solidFill>
                  <a:srgbClr val="0B2545"/>
                </a:solidFill>
                <a:latin typeface="Arial"/>
              </a:rPr>
              <a:t>Team ID –</a:t>
            </a:r>
            <a:r>
              <a:rPr sz="1500" b="0" i="0">
                <a:solidFill>
                  <a:srgbClr val="0E7C99"/>
                </a:solidFill>
                <a:latin typeface="Arial"/>
              </a:rPr>
              <a:t>  —</a:t>
            </a:r>
          </a:p>
          <a:p>
            <a:pPr marL="285750" indent="-285750" algn="just">
              <a:lnSpc>
                <a:spcPct val="2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1" i="0">
                <a:solidFill>
                  <a:srgbClr val="0B2545"/>
                </a:solidFill>
                <a:latin typeface="Arial"/>
              </a:rPr>
              <a:t>Team Name –</a:t>
            </a:r>
            <a:r>
              <a:rPr sz="1500" b="1" i="0">
                <a:solidFill>
                  <a:srgbClr val="0E7C99"/>
                </a:solidFill>
                <a:latin typeface="Arial"/>
              </a:rPr>
              <a:t>  ZeroDrift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logo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5742432"/>
            <a:ext cx="2251538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755648" y="1170432"/>
            <a:ext cx="10058400" cy="603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sz="950" b="0" i="1">
                <a:solidFill>
                  <a:srgbClr val="5A6472"/>
                </a:solidFill>
                <a:latin typeface="Arial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50" b="0" i="1">
                <a:solidFill>
                  <a:srgbClr val="5A6472"/>
                </a:solidFill>
                <a:latin typeface="Arial"/>
              </a:rPr>
              <a:t>Detailed explanation of the proposed solution</a:t>
            </a: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50" b="0" i="1">
                <a:solidFill>
                  <a:srgbClr val="5A6472"/>
                </a:solidFill>
                <a:latin typeface="Arial"/>
              </a:rPr>
              <a:t>How it addresses the problem</a:t>
            </a: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50" b="0" i="1">
                <a:solidFill>
                  <a:srgbClr val="5A6472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Team ZeroDrift · SIH 2026 · PS 26169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B2545"/>
          </a:solidFill>
          <a:ln w="15875">
            <a:solidFill>
              <a:srgbClr val="0E7C9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ZeroDrift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384048" y="18653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0E7C99"/>
                </a:solidFill>
                <a:latin typeface="Arial"/>
              </a:rPr>
              <a:t>The eyes and neck of a laser communication terminal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84048" y="2340864"/>
            <a:ext cx="63093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B2545"/>
                </a:solidFill>
                <a:latin typeface="Arial"/>
              </a:rPr>
              <a:t>The problem, simply:  </a:t>
            </a:r>
            <a:r>
              <a:rPr sz="1300" b="0" i="0">
                <a:solidFill>
                  <a:srgbClr val="0B2545"/>
                </a:solidFill>
                <a:latin typeface="Arial"/>
              </a:rPr>
              <a:t>laser links beam huge data — but only while both terminals point at each other with hair-thin accuracy through shaking, wind and orbital motion. ISRO wants this ‘pointing brain’ proven in software, without costly optics.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B2545"/>
                </a:solidFill>
                <a:latin typeface="Arial"/>
              </a:rPr>
              <a:t>Our solution:  </a:t>
            </a:r>
            <a:r>
              <a:rPr sz="1300" b="0" i="0">
                <a:solidFill>
                  <a:srgbClr val="0B2545"/>
                </a:solidFill>
                <a:latin typeface="Arial"/>
              </a:rPr>
              <a:t>a virtual test-range — a physics-true sky with stars, clutter, turbulence and a moving blinking beacon — and an AI-assisted tracker that finds it, proves its identity, and steers a virtual camera to keep it centred.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B2545"/>
                </a:solidFill>
                <a:latin typeface="Arial"/>
              </a:rPr>
              <a:t>Why it never locks the wrong light:  </a:t>
            </a:r>
            <a:r>
              <a:rPr sz="1300" b="0" i="0">
                <a:solidFill>
                  <a:srgbClr val="0B2545"/>
                </a:solidFill>
                <a:latin typeface="Arial"/>
              </a:rPr>
              <a:t>the beacon blinks at an agreed 4 Hz. A star or sun-glint can be brighter, but it cannot blink right — impostors score zero and are rejected.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B2545"/>
                </a:solidFill>
                <a:latin typeface="Arial"/>
              </a:rPr>
              <a:t>Smart where it matters:  </a:t>
            </a:r>
            <a:r>
              <a:rPr sz="1300" b="0" i="0">
                <a:solidFill>
                  <a:srgbClr val="0B2545"/>
                </a:solidFill>
                <a:latin typeface="Arial"/>
              </a:rPr>
              <a:t>predicts 40 ms ahead to cancel mount delay, rides through blink gaps on a motion model; a self-trained neural verifier double-checks every lock.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B2545"/>
                </a:solidFill>
                <a:latin typeface="Arial"/>
              </a:rPr>
              <a:t>Already built:  </a:t>
            </a:r>
            <a:r>
              <a:rPr sz="1300" b="0" i="0">
                <a:solidFill>
                  <a:srgbClr val="0B2545"/>
                </a:solidFill>
                <a:latin typeface="Arial"/>
              </a:rPr>
              <a:t>GUI console, standalone app, 73 automated tests, and a zero-install browser demo judges run on their own camera — every number measured, not projected.</a:t>
            </a:r>
          </a:p>
        </p:txBody>
      </p:sp>
      <p:pic>
        <p:nvPicPr>
          <p:cNvPr id="15365" name="Picture 15364" descr="gui_sho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028" y="1847088"/>
            <a:ext cx="4536337" cy="2743200"/>
          </a:xfrm>
          <a:prstGeom prst="rect">
            <a:avLst/>
          </a:prstGeom>
          <a:ln w="9525">
            <a:solidFill>
              <a:srgbClr val="5A6472"/>
            </a:solidFill>
          </a:ln>
        </p:spPr>
      </p:pic>
      <p:sp>
        <p:nvSpPr>
          <p:cNvPr id="15366" name="TextBox 15365"/>
          <p:cNvSpPr txBox="1"/>
          <p:nvPr/>
        </p:nvSpPr>
        <p:spPr>
          <a:xfrm>
            <a:off x="6903720" y="464515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A6472"/>
                </a:solidFill>
                <a:latin typeface="Arial"/>
              </a:rPr>
              <a:t>Our console locked — judges can run this tracker on their own camera</a:t>
            </a:r>
          </a:p>
        </p:txBody>
      </p:sp>
      <p:pic>
        <p:nvPicPr>
          <p:cNvPr id="15367" name="Picture 15366" descr="chip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5413248"/>
            <a:ext cx="2011680" cy="914400"/>
          </a:xfrm>
          <a:prstGeom prst="rect">
            <a:avLst/>
          </a:prstGeom>
        </p:spPr>
      </p:pic>
      <p:pic>
        <p:nvPicPr>
          <p:cNvPr id="15368" name="Picture 15367" descr="chip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2888" y="5413248"/>
            <a:ext cx="2011680" cy="914400"/>
          </a:xfrm>
          <a:prstGeom prst="rect">
            <a:avLst/>
          </a:prstGeom>
        </p:spPr>
      </p:pic>
      <p:pic>
        <p:nvPicPr>
          <p:cNvPr id="15369" name="Picture 15368" descr="chip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5413248"/>
            <a:ext cx="2011680" cy="914400"/>
          </a:xfrm>
          <a:prstGeom prst="rect">
            <a:avLst/>
          </a:prstGeom>
        </p:spPr>
      </p:pic>
      <p:sp>
        <p:nvSpPr>
          <p:cNvPr id="15370" name="TextBox 15369"/>
          <p:cNvSpPr txBox="1"/>
          <p:nvPr/>
        </p:nvSpPr>
        <p:spPr>
          <a:xfrm>
            <a:off x="6903720" y="4901184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B2545"/>
                </a:solidFill>
                <a:latin typeface="Arial"/>
              </a:rPr>
              <a:t>Measured: </a:t>
            </a:r>
            <a:r>
              <a:rPr sz="1100" b="1" i="0">
                <a:solidFill>
                  <a:srgbClr val="0E7C99"/>
                </a:solidFill>
                <a:latin typeface="Arial"/>
              </a:rPr>
              <a:t>median 198 µrad</a:t>
            </a:r>
            <a:r>
              <a:rPr sz="1100" b="0" i="0">
                <a:solidFill>
                  <a:srgbClr val="0B2545"/>
                </a:solidFill>
                <a:latin typeface="Arial"/>
              </a:rPr>
              <a:t> in lock · in-FOV </a:t>
            </a:r>
            <a:r>
              <a:rPr sz="1100" b="1" i="0">
                <a:solidFill>
                  <a:srgbClr val="1F8A5B"/>
                </a:solidFill>
                <a:latin typeface="Arial"/>
              </a:rPr>
              <a:t>100%</a:t>
            </a:r>
            <a:r>
              <a:rPr sz="1100" b="0" i="0">
                <a:solidFill>
                  <a:srgbClr val="0B2545"/>
                </a:solidFill>
                <a:latin typeface="Arial"/>
              </a:rPr>
              <a:t> · the live-demo run</a:t>
            </a:r>
          </a:p>
        </p:txBody>
      </p:sp>
      <p:pic>
        <p:nvPicPr>
          <p:cNvPr id="15371" name="Picture 15370" descr="chart_converge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5138928"/>
            <a:ext cx="4892040" cy="1076249"/>
          </a:xfrm>
          <a:prstGeom prst="rect">
            <a:avLst/>
          </a:prstGeom>
          <a:ln w="9525">
            <a:solidFill>
              <a:srgbClr val="D5DDE5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55648" y="1170432"/>
            <a:ext cx="10058400" cy="329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50" b="0" i="1">
                <a:solidFill>
                  <a:srgbClr val="5A6472"/>
                </a:solidFill>
                <a:latin typeface="Arial"/>
              </a:rPr>
              <a:t>Technologies to be used (e.g. programming languages, frameworks, hardware)</a:t>
            </a: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50" b="0" i="1">
                <a:solidFill>
                  <a:srgbClr val="5A6472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Team ZeroDrift · SIH 2026 · PS 26169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B2545"/>
          </a:solidFill>
          <a:ln w="15875">
            <a:solidFill>
              <a:srgbClr val="0E7C9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ZeroDrift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pipeline_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554480"/>
            <a:ext cx="11548872" cy="46917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55648" y="1170432"/>
            <a:ext cx="10058400" cy="475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50" b="0" i="1">
                <a:solidFill>
                  <a:srgbClr val="5A6472"/>
                </a:solidFill>
                <a:latin typeface="Arial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50" b="0" i="1">
                <a:solidFill>
                  <a:srgbClr val="5A6472"/>
                </a:solidFill>
                <a:latin typeface="Arial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50" b="0" i="1">
                <a:solidFill>
                  <a:srgbClr val="5A6472"/>
                </a:solidFill>
                <a:latin typeface="Arial"/>
              </a:rPr>
              <a:t>Strategies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Team ZeroDrift · SIH 2026 · PS 26169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B2545"/>
          </a:solidFill>
          <a:ln w="15875">
            <a:solidFill>
              <a:srgbClr val="0E7C9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ZeroDrift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384048" y="1810512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FEASIBILITY — PROVEN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84048" y="2340864"/>
            <a:ext cx="3657600" cy="301752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F8A5B"/>
                </a:solidFill>
                <a:latin typeface="Arial"/>
              </a:rPr>
              <a:t>• </a:t>
            </a:r>
            <a:r>
              <a:rPr sz="1250" b="0" i="0">
                <a:solidFill>
                  <a:srgbClr val="0B2545"/>
                </a:solidFill>
                <a:latin typeface="Arial"/>
              </a:rPr>
              <a:t>Fully working today: 73/73 automated tests pass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F8A5B"/>
                </a:solidFill>
                <a:latin typeface="Arial"/>
              </a:rPr>
              <a:t>• </a:t>
            </a:r>
            <a:r>
              <a:rPr sz="1250" b="0" i="0">
                <a:solidFill>
                  <a:srgbClr val="0B2545"/>
                </a:solidFill>
                <a:latin typeface="Arial"/>
              </a:rPr>
              <a:t>64-run randomised Monte-Carlo campaign: 100% acquisition, zero wrong locks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F8A5B"/>
                </a:solidFill>
                <a:latin typeface="Arial"/>
              </a:rPr>
              <a:t>• </a:t>
            </a:r>
            <a:r>
              <a:rPr sz="1250" b="0" i="0">
                <a:solidFill>
                  <a:srgbClr val="0B2545"/>
                </a:solidFill>
                <a:latin typeface="Arial"/>
              </a:rPr>
              <a:t>Standalone Windows/Linux app builds in one click; the browser demo needs no install at all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F8A5B"/>
                </a:solidFill>
                <a:latin typeface="Arial"/>
              </a:rPr>
              <a:t>• </a:t>
            </a:r>
            <a:r>
              <a:rPr sz="1250" b="0" i="0">
                <a:solidFill>
                  <a:srgbClr val="0B2545"/>
                </a:solidFill>
                <a:latin typeface="Arial"/>
              </a:rPr>
              <a:t>Tracker uses 8–21 ms of each 33 ms frame on two CPU cores — no GPU, no cloud, no dataset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42816" y="1810512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CHALLENGES &amp; RISKS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42816" y="2340864"/>
            <a:ext cx="3657600" cy="301752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06A00"/>
                </a:solidFill>
                <a:latin typeface="Arial"/>
              </a:rPr>
              <a:t>• </a:t>
            </a:r>
            <a:r>
              <a:rPr sz="1250" b="0" i="0">
                <a:solidFill>
                  <a:srgbClr val="0B2545"/>
                </a:solidFill>
                <a:latin typeface="Arial"/>
              </a:rPr>
              <a:t>Heavy turbulence dims and shakes the beacon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06A00"/>
                </a:solidFill>
                <a:latin typeface="Arial"/>
              </a:rPr>
              <a:t>• </a:t>
            </a:r>
            <a:r>
              <a:rPr sz="1250" b="0" i="0">
                <a:solidFill>
                  <a:srgbClr val="0B2545"/>
                </a:solidFill>
                <a:latin typeface="Arial"/>
              </a:rPr>
              <a:t>Bright decoys / sun glints can mimic the beacon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06A00"/>
                </a:solidFill>
                <a:latin typeface="Arial"/>
              </a:rPr>
              <a:t>• </a:t>
            </a:r>
            <a:r>
              <a:rPr sz="1250" b="0" i="0">
                <a:solidFill>
                  <a:srgbClr val="0B2545"/>
                </a:solidFill>
                <a:latin typeface="Arial"/>
              </a:rPr>
              <a:t>Mount latency destabilises fast tracking loops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06A00"/>
                </a:solidFill>
                <a:latin typeface="Arial"/>
              </a:rPr>
              <a:t>• </a:t>
            </a:r>
            <a:r>
              <a:rPr sz="1250" b="0" i="0">
                <a:solidFill>
                  <a:srgbClr val="0B2545"/>
                </a:solidFill>
                <a:latin typeface="Arial"/>
              </a:rPr>
              <a:t>Sharp UAV manoeuvres break simple trackers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101583" y="1810512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0E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OUR STRATEGIES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01583" y="2340864"/>
            <a:ext cx="3657600" cy="301752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0E7C99"/>
                </a:solidFill>
                <a:latin typeface="Arial"/>
              </a:rPr>
              <a:t>• </a:t>
            </a:r>
            <a:r>
              <a:rPr sz="1250" b="0" i="0">
                <a:solidFill>
                  <a:srgbClr val="0B2545"/>
                </a:solidFill>
                <a:latin typeface="Arial"/>
              </a:rPr>
              <a:t>Coast-through-fade + automatic re-acquisition spiral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0E7C99"/>
                </a:solidFill>
                <a:latin typeface="Arial"/>
              </a:rPr>
              <a:t>• </a:t>
            </a:r>
            <a:r>
              <a:rPr sz="1250" b="0" i="0">
                <a:solidFill>
                  <a:srgbClr val="0B2545"/>
                </a:solidFill>
                <a:latin typeface="Arial"/>
              </a:rPr>
              <a:t>Blink-signature hard gate: a star scores zero — fooled 0 times in 64 runs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0E7C99"/>
                </a:solidFill>
                <a:latin typeface="Arial"/>
              </a:rPr>
              <a:t>• </a:t>
            </a:r>
            <a:r>
              <a:rPr sz="1250" b="0" i="0">
                <a:solidFill>
                  <a:srgbClr val="0B2545"/>
                </a:solidFill>
                <a:latin typeface="Arial"/>
              </a:rPr>
              <a:t>Smith predictor cancels the measured 40 ms delay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0E7C99"/>
                </a:solidFill>
                <a:latin typeface="Arial"/>
              </a:rPr>
              <a:t>• </a:t>
            </a:r>
            <a:r>
              <a:rPr sz="1250" b="0" i="0">
                <a:solidFill>
                  <a:srgbClr val="0B2545"/>
                </a:solidFill>
                <a:latin typeface="Arial"/>
              </a:rPr>
              <a:t>Dual-model IMM filter — two motion models re-weighted every frame catch sharp manoeuvres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84048" y="557784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B2545"/>
                </a:solidFill>
                <a:latin typeface="Arial"/>
              </a:rPr>
              <a:t>Worst case across all 64 randomised runs:  </a:t>
            </a:r>
            <a:r>
              <a:rPr sz="1150" b="0" i="0">
                <a:solidFill>
                  <a:srgbClr val="0B2545"/>
                </a:solidFill>
                <a:latin typeface="Arial"/>
              </a:rPr>
              <a:t>slowest acquisition 4.0 s, lowest lock retention 91.6%; even a 0.53×-dim beacon under 1.74× turbulence acquired in 2.8 s. Every number regenerates from one command — fully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55648" y="1170432"/>
            <a:ext cx="10058400" cy="329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50" b="0" i="1">
                <a:solidFill>
                  <a:srgbClr val="5A6472"/>
                </a:solidFill>
                <a:latin typeface="Arial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50" b="0" i="1">
                <a:solidFill>
                  <a:srgbClr val="5A6472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Team ZeroDrift · SIH 2026 · PS 26169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B2545"/>
          </a:solidFill>
          <a:ln w="15875">
            <a:solidFill>
              <a:srgbClr val="0E7C9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ZeroDrift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384048" y="1645920"/>
            <a:ext cx="5577840" cy="1609344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300" b="1" i="0">
                <a:solidFill>
                  <a:srgbClr val="0B2545"/>
                </a:solidFill>
                <a:latin typeface="Arial"/>
              </a:rPr>
              <a:t>STRATEGIC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0B2545"/>
                </a:solidFill>
                <a:latin typeface="Arial"/>
              </a:rPr>
              <a:t>Advances India's next-generation space &amp; defence communications — FSOC pointing algorithms developed sovereignly, without importing optical test benches.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63056" y="1645920"/>
            <a:ext cx="5577840" cy="1609344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300" b="1" i="0">
                <a:solidFill>
                  <a:srgbClr val="1F8A5B"/>
                </a:solidFill>
                <a:latin typeface="Arial"/>
              </a:rPr>
              <a:t>ECONOMIC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0B2545"/>
                </a:solidFill>
                <a:latin typeface="Arial"/>
              </a:rPr>
              <a:t>A laptop replaces lakhs of rupees of cameras, gimbals and optics — the entire develop–test–validate cycle for FSOC pointing runs in pure software, at zero recurring cost.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84048" y="3401568"/>
            <a:ext cx="5577840" cy="1609344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300" b="1" i="0">
                <a:solidFill>
                  <a:srgbClr val="0E7C99"/>
                </a:solidFill>
                <a:latin typeface="Arial"/>
              </a:rPr>
              <a:t>RESEARCH &amp; EDUCATION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0B2545"/>
                </a:solidFill>
                <a:latin typeface="Arial"/>
              </a:rPr>
              <a:t>Any student or ISRO lab can develop, test and compare PAT algorithms instantly — reproducible scenarios, honest ground-truth scoring, open source.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63056" y="3401568"/>
            <a:ext cx="5577840" cy="1609344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300" b="1" i="0">
                <a:solidFill>
                  <a:srgbClr val="B06A00"/>
                </a:solidFill>
                <a:latin typeface="Arial"/>
              </a:rPr>
              <a:t>SCALABLE &amp; GREEN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0B2545"/>
                </a:solidFill>
                <a:latin typeface="Arial"/>
              </a:rPr>
              <a:t>Same engine covers satellite, UAV, ground and maritime links. Pure software — no consumables, no lab energy, no e-waste in the development cycle.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84048" y="50292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0B2545"/>
                </a:solidFill>
                <a:latin typeface="Arial"/>
              </a:rPr>
              <a:t>Target audience:  </a:t>
            </a:r>
            <a:r>
              <a:rPr sz="1200" b="0" i="0">
                <a:solidFill>
                  <a:srgbClr val="0B2545"/>
                </a:solidFill>
                <a:latin typeface="Arial"/>
              </a:rPr>
              <a:t>ISRO / IN-SPACe optical-communication teams, DRDO, IITs &amp; engineering colleges, and India's growing space-tech startups.</a:t>
            </a:r>
          </a:p>
        </p:txBody>
      </p:sp>
      <p:pic>
        <p:nvPicPr>
          <p:cNvPr id="17416" name="Picture 17415" descr="impact_b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" y="5266944"/>
            <a:ext cx="9326880" cy="105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55648" y="1170432"/>
            <a:ext cx="10058400" cy="201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50" b="0" i="1">
                <a:solidFill>
                  <a:srgbClr val="5A6472"/>
                </a:solidFill>
                <a:latin typeface="Arial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Team ZeroDrift · SIH 2026 · PS 26169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B2545"/>
          </a:solidFill>
          <a:ln w="15875">
            <a:solidFill>
              <a:srgbClr val="0E7C9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ZeroDrift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84048" y="151790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0B2545"/>
                </a:solidFill>
                <a:latin typeface="Arial"/>
              </a:rPr>
              <a:t>Research foundations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84048" y="1920240"/>
            <a:ext cx="55778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Kaymak et al.,  </a:t>
            </a:r>
            <a:r>
              <a:rPr sz="1100" b="0" i="0">
                <a:solidFill>
                  <a:srgbClr val="0B2545"/>
                </a:solidFill>
                <a:latin typeface="Arial"/>
              </a:rPr>
              <a:t>“A Survey on Acquisition, Tracking and Pointing Mechanisms for Mobile FSO,” IEEE Comm. Surveys &amp; Tutorials, 2018.  </a:t>
            </a:r>
            <a:r>
              <a:rPr sz="1000" u="sng">
                <a:solidFill>
                  <a:srgbClr val="0E7C99"/>
                </a:solidFill>
                <a:latin typeface="Arial"/>
                <a:hlinkClick r:id="rId4"/>
              </a:rPr>
              <a:t>[link]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Kaushal &amp; Kaddoum,  </a:t>
            </a:r>
            <a:r>
              <a:rPr sz="1100" b="0" i="0">
                <a:solidFill>
                  <a:srgbClr val="0B2545"/>
                </a:solidFill>
                <a:latin typeface="Arial"/>
              </a:rPr>
              <a:t>“Optical Communication in Space: Challenges and Mitigation Techniques,” IEEE Comm. Surveys &amp; Tutorials, 2017.  </a:t>
            </a:r>
            <a:r>
              <a:rPr sz="1000" u="sng">
                <a:solidFill>
                  <a:srgbClr val="0E7C99"/>
                </a:solidFill>
                <a:latin typeface="Arial"/>
                <a:hlinkClick r:id="rId5"/>
              </a:rPr>
              <a:t>[link]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Blackman &amp; Popoli,  </a:t>
            </a:r>
            <a:r>
              <a:rPr sz="1100" b="0" i="0">
                <a:solidFill>
                  <a:srgbClr val="0B2545"/>
                </a:solidFill>
                <a:latin typeface="Arial"/>
              </a:rPr>
              <a:t>Design and Analysis of Modern Tracking Systems — IMM filtering, CFAR detection, track management.  </a:t>
            </a:r>
            <a:r>
              <a:rPr sz="1000" u="sng">
                <a:solidFill>
                  <a:srgbClr val="0E7C99"/>
                </a:solidFill>
                <a:latin typeface="Arial"/>
                <a:hlinkClick r:id="rId6"/>
              </a:rPr>
              <a:t>[link]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Bar-Shalom et al.,  </a:t>
            </a:r>
            <a:r>
              <a:rPr sz="1100" b="0" i="0">
                <a:solidFill>
                  <a:srgbClr val="0B2545"/>
                </a:solidFill>
                <a:latin typeface="Arial"/>
              </a:rPr>
              <a:t>Estimation with Applications to Tracking and Navigation — Kalman/IMM theory.  </a:t>
            </a:r>
            <a:r>
              <a:rPr sz="1000" u="sng">
                <a:solidFill>
                  <a:srgbClr val="0E7C99"/>
                </a:solidFill>
                <a:latin typeface="Arial"/>
                <a:hlinkClick r:id="rId7"/>
              </a:rPr>
              <a:t>[link]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Smith, O.J.M.,  </a:t>
            </a:r>
            <a:r>
              <a:rPr sz="1100" b="0" i="0">
                <a:solidFill>
                  <a:srgbClr val="0B2545"/>
                </a:solidFill>
                <a:latin typeface="Arial"/>
              </a:rPr>
              <a:t>“Closer Control of Loops with Dead Time” — the Smith predictor, 1957.  </a:t>
            </a:r>
            <a:r>
              <a:rPr sz="1000" u="sng">
                <a:solidFill>
                  <a:srgbClr val="0E7C99"/>
                </a:solidFill>
                <a:latin typeface="Arial"/>
                <a:hlinkClick r:id="rId8"/>
              </a:rPr>
              <a:t>[link]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Vallado &amp; Crawford,  </a:t>
            </a:r>
            <a:r>
              <a:rPr sz="1100" b="0" i="0">
                <a:solidFill>
                  <a:srgbClr val="0B2545"/>
                </a:solidFill>
                <a:latin typeface="Arial"/>
              </a:rPr>
              <a:t>“SGP4 Orbit Determination” — AIAA 2008; real ISS TLE propagation.  </a:t>
            </a:r>
            <a:r>
              <a:rPr sz="1000" u="sng">
                <a:solidFill>
                  <a:srgbClr val="0E7C99"/>
                </a:solidFill>
                <a:latin typeface="Arial"/>
                <a:hlinkClick r:id="rId9"/>
              </a:rPr>
              <a:t>[link]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Andrews &amp; Phillips,  </a:t>
            </a:r>
            <a:r>
              <a:rPr sz="1100" b="0" i="0">
                <a:solidFill>
                  <a:srgbClr val="0B2545"/>
                </a:solidFill>
                <a:latin typeface="Arial"/>
              </a:rPr>
              <a:t>Laser Beam Propagation through Random Media — turbulence &amp; scintillation models.  </a:t>
            </a:r>
            <a:r>
              <a:rPr sz="1000" u="sng">
                <a:solidFill>
                  <a:srgbClr val="0E7C99"/>
                </a:solidFill>
                <a:latin typeface="Arial"/>
                <a:hlinkClick r:id="rId10"/>
              </a:rPr>
              <a:t>[link]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355080" y="151790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0B2545"/>
                </a:solidFill>
                <a:latin typeface="Arial"/>
              </a:rPr>
              <a:t>Our work — open and verifiable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355080" y="1920240"/>
            <a:ext cx="5486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Repository:  </a:t>
            </a:r>
            <a:r>
              <a:rPr sz="1100" u="sng">
                <a:solidFill>
                  <a:srgbClr val="0E7C99"/>
                </a:solidFill>
                <a:latin typeface="Arial"/>
                <a:hlinkClick r:id="rId11"/>
              </a:rPr>
              <a:t>github.com/pranshukesavmishra/SIH-2026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Live demo:  </a:t>
            </a:r>
            <a:r>
              <a:rPr sz="1100" u="sng">
                <a:solidFill>
                  <a:srgbClr val="0E7C99"/>
                </a:solidFill>
                <a:latin typeface="Arial"/>
                <a:hlinkClick r:id="rId12"/>
              </a:rPr>
              <a:t>zerodrift-fsoc-pat.netlify.app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Inside:  </a:t>
            </a:r>
            <a:r>
              <a:rPr sz="1100" b="0" i="0">
                <a:solidFill>
                  <a:srgbClr val="0B2545"/>
                </a:solidFill>
                <a:latin typeface="Arial"/>
              </a:rPr>
              <a:t>full source (5,000+ lines, documented) · 73 automated tests · 6 validated scenarios · Monte-Carlo logs · technical report · user manual · and /live.html, an in-browser tracker that runs on any laptop or phone camera with nothing installed.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Reproducibility:  </a:t>
            </a:r>
            <a:r>
              <a:rPr sz="1100" b="0" i="0">
                <a:solidFill>
                  <a:srgbClr val="0B2545"/>
                </a:solidFill>
                <a:latin typeface="Arial"/>
              </a:rPr>
              <a:t>every figure in this deck regenerates from one command; every random draw is logged and replayable.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355080" y="33467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0B2545"/>
                </a:solidFill>
                <a:latin typeface="Arial"/>
              </a:rPr>
              <a:t>Compared with existing approaches</a:t>
            </a:r>
          </a:p>
        </p:txBody>
      </p:sp>
      <p:graphicFrame>
        <p:nvGraphicFramePr>
          <p:cNvPr id="17416" name="Table 17415"/>
          <p:cNvGraphicFramePr>
            <a:graphicFrameLocks noGrp="1"/>
          </p:cNvGraphicFramePr>
          <p:nvPr/>
        </p:nvGraphicFramePr>
        <p:xfrm>
          <a:off x="6355080" y="3621024"/>
          <a:ext cx="548640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360"/>
                <a:gridCol w="868680"/>
                <a:gridCol w="868680"/>
                <a:gridCol w="868680"/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ZeroDrift</a:t>
                      </a:r>
                    </a:p>
                  </a:txBody>
                  <a:tcPr marL="45720" marR="45720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MATLAB sim</a:t>
                      </a:r>
                    </a:p>
                  </a:txBody>
                  <a:tcPr marL="45720" marR="45720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HW testbed</a:t>
                      </a:r>
                    </a:p>
                  </a:txBody>
                  <a:tcPr marL="45720" marR="45720" marT="9144" marB="9144" anchor="ctr">
                    <a:solidFill>
                      <a:srgbClr val="0B254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B2545"/>
                          </a:solidFill>
                          <a:latin typeface="Arial"/>
                        </a:rPr>
                        <a:t>Zero hardware cost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F8A5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F8A5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9C2E23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B2545"/>
                          </a:solidFill>
                          <a:latin typeface="Arial"/>
                        </a:rPr>
                        <a:t>Real-time closed loop + live console</a:t>
                      </a:r>
                    </a:p>
                  </a:txBody>
                  <a:tcPr marL="45720" marR="45720" marT="9144" marB="914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F8A5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9C2E23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45720" marR="45720" marT="9144" marB="914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F8A5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FF3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B2545"/>
                          </a:solidFill>
                          <a:latin typeface="Arial"/>
                        </a:rPr>
                        <a:t>Decoy &amp; blink-signature discrimination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F8A5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9C2E23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9C2E23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B2545"/>
                          </a:solidFill>
                          <a:latin typeface="Arial"/>
                        </a:rPr>
                        <a:t>Open source · one-command reproducible</a:t>
                      </a:r>
                    </a:p>
                  </a:txBody>
                  <a:tcPr marL="45720" marR="45720" marT="9144" marB="914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F8A5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9C2E23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45720" marR="45720" marT="9144" marB="914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9C2E23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45720" marR="45720" marT="9144" marB="9144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17417" name="Rounded Rectangle 17416"/>
          <p:cNvSpPr/>
          <p:nvPr/>
        </p:nvSpPr>
        <p:spPr>
          <a:xfrm>
            <a:off x="6355080" y="4864608"/>
            <a:ext cx="5486400" cy="1133856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Why ZeroDrift wins on this problem</a:t>
            </a:r>
          </a:p>
          <a:p>
            <a:pPr>
              <a:spcBef>
                <a:spcPts val="200"/>
              </a:spcBef>
            </a:pPr>
            <a:r>
              <a:rPr sz="1050" b="1" i="0">
                <a:solidFill>
                  <a:srgbClr val="7FD4A8"/>
                </a:solidFill>
                <a:latin typeface="Arial"/>
              </a:rPr>
              <a:t>✓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All six mandatory deliverables already exist today</a:t>
            </a:r>
          </a:p>
          <a:p>
            <a:pPr>
              <a:spcBef>
                <a:spcPts val="200"/>
              </a:spcBef>
            </a:pPr>
            <a:r>
              <a:rPr sz="1050" b="1" i="0">
                <a:solidFill>
                  <a:srgbClr val="7FD4A8"/>
                </a:solidFill>
                <a:latin typeface="Arial"/>
              </a:rPr>
              <a:t>✓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Judged numbers, honestly measured against hidden ground truth</a:t>
            </a:r>
          </a:p>
          <a:p>
            <a:pPr>
              <a:spcBef>
                <a:spcPts val="200"/>
              </a:spcBef>
            </a:pPr>
            <a:r>
              <a:rPr sz="1050" b="1" i="0">
                <a:solidFill>
                  <a:srgbClr val="7FD4A8"/>
                </a:solidFill>
                <a:latin typeface="Arial"/>
              </a:rPr>
              <a:t>✓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AI where it earns its place — benchmarked against classical methods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ZeroDrift — SIH 2026 Idea Submission (PS 26169, ISRO)</dc:title>
  <dc:subject>AI-Based Virtual Camera Tracking for Coarse Alignment of Mobile FSOC Terminals</dc:subject>
  <dc:creator>Team ZeroDrift, Jabalpur Engineering College</dc:creator>
  <cp:keywords>SIH 2026, PS 26169, ISRO, FSOC, ZeroDrift</cp:keywords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